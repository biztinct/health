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8" r:id="rId2"/>
    <p:sldId id="272" r:id="rId3"/>
    <p:sldId id="290" r:id="rId4"/>
    <p:sldId id="276" r:id="rId5"/>
    <p:sldId id="277" r:id="rId6"/>
    <p:sldId id="263" r:id="rId7"/>
    <p:sldId id="280" r:id="rId8"/>
    <p:sldId id="281" r:id="rId9"/>
    <p:sldId id="282" r:id="rId10"/>
    <p:sldId id="283" r:id="rId11"/>
    <p:sldId id="284" r:id="rId12"/>
    <p:sldId id="285" r:id="rId13"/>
    <p:sldId id="286" r:id="rId14"/>
    <p:sldId id="287" r:id="rId15"/>
    <p:sldId id="291" r:id="rId16"/>
    <p:sldId id="288" r:id="rId17"/>
    <p:sldId id="289" r:id="rId18"/>
    <p:sldId id="294" r:id="rId19"/>
    <p:sldId id="297" r:id="rId20"/>
    <p:sldId id="305" r:id="rId21"/>
    <p:sldId id="267" r:id="rId22"/>
    <p:sldId id="299" r:id="rId23"/>
    <p:sldId id="301" r:id="rId24"/>
    <p:sldId id="304" r:id="rId25"/>
    <p:sldId id="270" r:id="rId26"/>
    <p:sldId id="268" r:id="rId27"/>
    <p:sldId id="296" r:id="rId28"/>
    <p:sldId id="292" r:id="rId29"/>
    <p:sldId id="256"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020" autoAdjust="0"/>
  </p:normalViewPr>
  <p:slideViewPr>
    <p:cSldViewPr snapToGrid="0">
      <p:cViewPr varScale="1">
        <p:scale>
          <a:sx n="59" d="100"/>
          <a:sy n="59" d="100"/>
        </p:scale>
        <p:origin x="964" y="60"/>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804B72-077A-44F3-AB1A-674DAD2E5C2B}" type="datetimeFigureOut">
              <a:rPr lang="en-NZ" smtClean="0"/>
              <a:t>3/09/2026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B98D93-83B4-4409-9B09-D01D05493D55}" type="slidenum">
              <a:rPr lang="en-NZ" smtClean="0"/>
              <a:t>‹#›</a:t>
            </a:fld>
            <a:endParaRPr lang="en-NZ"/>
          </a:p>
        </p:txBody>
      </p:sp>
    </p:spTree>
    <p:extLst>
      <p:ext uri="{BB962C8B-B14F-4D97-AF65-F5344CB8AC3E}">
        <p14:creationId xmlns:p14="http://schemas.microsoft.com/office/powerpoint/2010/main" val="2333004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45B98D93-83B4-4409-9B09-D01D05493D55}" type="slidenum">
              <a:rPr lang="en-NZ" smtClean="0"/>
              <a:t>5</a:t>
            </a:fld>
            <a:endParaRPr lang="en-NZ"/>
          </a:p>
        </p:txBody>
      </p:sp>
    </p:spTree>
    <p:extLst>
      <p:ext uri="{BB962C8B-B14F-4D97-AF65-F5344CB8AC3E}">
        <p14:creationId xmlns:p14="http://schemas.microsoft.com/office/powerpoint/2010/main" val="819677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45B98D93-83B4-4409-9B09-D01D05493D55}" type="slidenum">
              <a:rPr lang="en-NZ" smtClean="0"/>
              <a:t>26</a:t>
            </a:fld>
            <a:endParaRPr lang="en-NZ"/>
          </a:p>
        </p:txBody>
      </p:sp>
    </p:spTree>
    <p:extLst>
      <p:ext uri="{BB962C8B-B14F-4D97-AF65-F5344CB8AC3E}">
        <p14:creationId xmlns:p14="http://schemas.microsoft.com/office/powerpoint/2010/main" val="3470035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79DF-8B6B-6E11-91C5-5F431C7412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4E05F40E-DC86-1294-CE38-906FB932AC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62FAB7EE-D951-5AAB-458D-AA8BEEB1F717}"/>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5" name="Footer Placeholder 4">
            <a:extLst>
              <a:ext uri="{FF2B5EF4-FFF2-40B4-BE49-F238E27FC236}">
                <a16:creationId xmlns:a16="http://schemas.microsoft.com/office/drawing/2014/main" id="{023E8ADA-8ACB-4C74-CCED-473AC34C43F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4BFDF64-9BB1-1053-5E0D-18D39F4B36DA}"/>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874502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79154-A09B-25DB-19CE-9D3FFCFE28E3}"/>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B6CA761E-762B-589C-E692-36312DCDC3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62D1679-4F72-2166-F0ED-4A5ABDD8A8CB}"/>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5" name="Footer Placeholder 4">
            <a:extLst>
              <a:ext uri="{FF2B5EF4-FFF2-40B4-BE49-F238E27FC236}">
                <a16:creationId xmlns:a16="http://schemas.microsoft.com/office/drawing/2014/main" id="{095C1DAF-FCC0-003A-68D1-3053F6FB066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34778239-DC6A-69F8-5464-E2049598A986}"/>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916914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22995-2125-0FAA-DC21-5DA544686B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E493BE88-BB1B-F412-47B1-F11FB58E2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D980B5-6CA7-4914-0FCB-5A0A4466539A}"/>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5" name="Footer Placeholder 4">
            <a:extLst>
              <a:ext uri="{FF2B5EF4-FFF2-40B4-BE49-F238E27FC236}">
                <a16:creationId xmlns:a16="http://schemas.microsoft.com/office/drawing/2014/main" id="{714D8981-29D7-5941-92D0-8503E4DD688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C6DFDC0-1218-02F6-048F-EAD7BBDBDA4D}"/>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314085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CD8E-E549-7FA1-C840-12EE581C036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F9FC793-C721-535E-E800-B535FE85A4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C97FE064-083E-9EE8-0421-2B39BA08D2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7409D4D6-42DF-D712-DD47-79B694FBE9C8}"/>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6" name="Footer Placeholder 5">
            <a:extLst>
              <a:ext uri="{FF2B5EF4-FFF2-40B4-BE49-F238E27FC236}">
                <a16:creationId xmlns:a16="http://schemas.microsoft.com/office/drawing/2014/main" id="{4559F519-CB29-BA77-FE3F-948212A0C7E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C0B3C2E7-8D2E-7901-0A6F-66CFBFFB7DBA}"/>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1595275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F460-1060-3594-8E20-E01FFAE7A999}"/>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957E6C8B-087F-1A1B-B424-8BBADEAE1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A20887-C03A-45CD-9D88-F7A245618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7CE0A480-7EC4-109D-4084-548CFC4C65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020DB0-F450-4385-A941-EA70F3A263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294A16A2-02EE-6314-6F69-060F97CCF21B}"/>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8" name="Footer Placeholder 7">
            <a:extLst>
              <a:ext uri="{FF2B5EF4-FFF2-40B4-BE49-F238E27FC236}">
                <a16:creationId xmlns:a16="http://schemas.microsoft.com/office/drawing/2014/main" id="{2E48D1CB-9512-D6B0-C5F3-9FA3343ACE15}"/>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DE50C8C7-3B15-479C-CED4-1FDF7F6498DD}"/>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1872638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C904-7FBA-72DE-21DE-70CF430BC225}"/>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F70292D5-9FE5-25F6-9347-231ED1C5D5AA}"/>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4" name="Footer Placeholder 3">
            <a:extLst>
              <a:ext uri="{FF2B5EF4-FFF2-40B4-BE49-F238E27FC236}">
                <a16:creationId xmlns:a16="http://schemas.microsoft.com/office/drawing/2014/main" id="{07A02B47-FA13-E57C-EE30-96E2DE20908A}"/>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E7FB633C-D4C2-FDE4-1E65-B95DCBA4F1FC}"/>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827048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561448-DEFE-70A9-0637-F7EE57476317}"/>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3" name="Footer Placeholder 2">
            <a:extLst>
              <a:ext uri="{FF2B5EF4-FFF2-40B4-BE49-F238E27FC236}">
                <a16:creationId xmlns:a16="http://schemas.microsoft.com/office/drawing/2014/main" id="{F6AB5DE0-9E4C-D6B9-6D9D-0D7744F478E1}"/>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CBC3ADC2-F3C1-3F0B-7E23-3CA650F66F97}"/>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67418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AECE5-9AF0-D7E5-5C11-D734143620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89CCAAB-9814-2756-42F2-E3ED8F336D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5FD9EE79-DBD7-0722-0BF5-DF334FB187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0C034-D25E-1D57-9CEB-AEC6663C282B}"/>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6" name="Footer Placeholder 5">
            <a:extLst>
              <a:ext uri="{FF2B5EF4-FFF2-40B4-BE49-F238E27FC236}">
                <a16:creationId xmlns:a16="http://schemas.microsoft.com/office/drawing/2014/main" id="{A8BE244C-A8F4-EFBC-9A51-DA42ED9AED9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14ADB8-FA6A-92F8-26FE-0148A9E77DB3}"/>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377638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BB5A1-10E4-5D9C-FB20-54F9A84C7B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56C75592-5326-0038-7BD6-14B9B04B1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B930D782-9C21-05DA-6461-6C8FE24CB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F9841-424C-4AB5-4658-6EB55B5EF3AA}"/>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6" name="Footer Placeholder 5">
            <a:extLst>
              <a:ext uri="{FF2B5EF4-FFF2-40B4-BE49-F238E27FC236}">
                <a16:creationId xmlns:a16="http://schemas.microsoft.com/office/drawing/2014/main" id="{8D42540A-E6B8-1079-766F-558079F1335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2A5CC31B-EBC8-2893-D328-F40D8962F512}"/>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40744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C5C90-87B6-9849-E114-D96D0A6FEE91}"/>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9ED59E0-B612-2010-A026-785C2A7744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3986664-B2A3-E49F-BE8A-F106754FFF10}"/>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5" name="Footer Placeholder 4">
            <a:extLst>
              <a:ext uri="{FF2B5EF4-FFF2-40B4-BE49-F238E27FC236}">
                <a16:creationId xmlns:a16="http://schemas.microsoft.com/office/drawing/2014/main" id="{E2B36462-5C00-C717-4DBD-386FFC934A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82F9EB6-5616-EC7D-6439-409F54B40C8F}"/>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332446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CBB90E-8648-8997-8C64-28A9234DE6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8627D131-D5C8-8870-BA98-C62B25DDE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8EC4516-5DD0-972B-0C9B-9CFCC47B4E82}"/>
              </a:ext>
            </a:extLst>
          </p:cNvPr>
          <p:cNvSpPr>
            <a:spLocks noGrp="1"/>
          </p:cNvSpPr>
          <p:nvPr>
            <p:ph type="dt" sz="half" idx="10"/>
          </p:nvPr>
        </p:nvSpPr>
        <p:spPr/>
        <p:txBody>
          <a:bodyPr/>
          <a:lstStyle/>
          <a:p>
            <a:fld id="{AA58D64B-7CBB-4BBF-B1FB-EF9EF552B3F1}" type="datetimeFigureOut">
              <a:rPr lang="en-NZ" smtClean="0"/>
              <a:t>3/09/2026</a:t>
            </a:fld>
            <a:endParaRPr lang="en-NZ"/>
          </a:p>
        </p:txBody>
      </p:sp>
      <p:sp>
        <p:nvSpPr>
          <p:cNvPr id="5" name="Footer Placeholder 4">
            <a:extLst>
              <a:ext uri="{FF2B5EF4-FFF2-40B4-BE49-F238E27FC236}">
                <a16:creationId xmlns:a16="http://schemas.microsoft.com/office/drawing/2014/main" id="{FF8D31CC-9686-DFF0-BE87-DBC92BAFF6F0}"/>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AA0C83C-4DE5-C2A8-DB44-3843DA476177}"/>
              </a:ext>
            </a:extLst>
          </p:cNvPr>
          <p:cNvSpPr>
            <a:spLocks noGrp="1"/>
          </p:cNvSpPr>
          <p:nvPr>
            <p:ph type="sldNum" sz="quarter" idx="12"/>
          </p:nvPr>
        </p:nvSpPr>
        <p:spPr/>
        <p:txBody>
          <a:bodyPr/>
          <a:lstStyle/>
          <a:p>
            <a:fld id="{23969964-BE9A-4C01-8480-159BC0A2FC42}" type="slidenum">
              <a:rPr lang="en-NZ" smtClean="0"/>
              <a:t>‹#›</a:t>
            </a:fld>
            <a:endParaRPr lang="en-NZ"/>
          </a:p>
        </p:txBody>
      </p:sp>
    </p:spTree>
    <p:extLst>
      <p:ext uri="{BB962C8B-B14F-4D97-AF65-F5344CB8AC3E}">
        <p14:creationId xmlns:p14="http://schemas.microsoft.com/office/powerpoint/2010/main" val="2156461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358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9C2FA-6EDB-9142-7BF7-024B1818BF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F9ADA04-5DB7-7E10-20E2-309A585F88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E8C6C1D-3924-8A5D-0D89-95B62AD38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58D64B-7CBB-4BBF-B1FB-EF9EF552B3F1}" type="datetimeFigureOut">
              <a:rPr lang="en-NZ" smtClean="0"/>
              <a:t>3/09/2026</a:t>
            </a:fld>
            <a:endParaRPr lang="en-NZ"/>
          </a:p>
        </p:txBody>
      </p:sp>
      <p:sp>
        <p:nvSpPr>
          <p:cNvPr id="5" name="Footer Placeholder 4">
            <a:extLst>
              <a:ext uri="{FF2B5EF4-FFF2-40B4-BE49-F238E27FC236}">
                <a16:creationId xmlns:a16="http://schemas.microsoft.com/office/drawing/2014/main" id="{903384AD-F4E7-51EC-DDBF-72EA22EDB9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8D6029A4-2B34-E10C-01A2-EC80E4A31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969964-BE9A-4C01-8480-159BC0A2FC42}" type="slidenum">
              <a:rPr lang="en-NZ" smtClean="0"/>
              <a:t>‹#›</a:t>
            </a:fld>
            <a:endParaRPr lang="en-NZ"/>
          </a:p>
        </p:txBody>
      </p:sp>
    </p:spTree>
    <p:extLst>
      <p:ext uri="{BB962C8B-B14F-4D97-AF65-F5344CB8AC3E}">
        <p14:creationId xmlns:p14="http://schemas.microsoft.com/office/powerpoint/2010/main" val="2778032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2.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oleObject" Target="../embeddings/oleObject1.bin"/><Relationship Id="rId7" Type="http://schemas.openxmlformats.org/officeDocument/2006/relationships/image" Target="../media/image50.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54.png"/><Relationship Id="rId4" Type="http://schemas.openxmlformats.org/officeDocument/2006/relationships/image" Target="../media/image53.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25CE3-D934-E19F-258F-A5194C01520E}"/>
              </a:ext>
            </a:extLst>
          </p:cNvPr>
          <p:cNvSpPr>
            <a:spLocks noGrp="1"/>
          </p:cNvSpPr>
          <p:nvPr>
            <p:ph type="ctrTitle"/>
          </p:nvPr>
        </p:nvSpPr>
        <p:spPr/>
        <p:txBody>
          <a:bodyPr/>
          <a:lstStyle/>
          <a:p>
            <a:endParaRPr lang="en-NZ"/>
          </a:p>
        </p:txBody>
      </p:sp>
      <p:sp>
        <p:nvSpPr>
          <p:cNvPr id="3" name="Subtitle 2">
            <a:extLst>
              <a:ext uri="{FF2B5EF4-FFF2-40B4-BE49-F238E27FC236}">
                <a16:creationId xmlns:a16="http://schemas.microsoft.com/office/drawing/2014/main" id="{EBB5CA27-20A0-E64F-FBEC-6D0E74A21163}"/>
              </a:ext>
            </a:extLst>
          </p:cNvPr>
          <p:cNvSpPr>
            <a:spLocks noGrp="1"/>
          </p:cNvSpPr>
          <p:nvPr>
            <p:ph type="subTitle" idx="1"/>
          </p:nvPr>
        </p:nvSpPr>
        <p:spPr/>
        <p:txBody>
          <a:bodyPr/>
          <a:lstStyle/>
          <a:p>
            <a:endParaRPr lang="en-NZ"/>
          </a:p>
        </p:txBody>
      </p:sp>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21" name="Picture 20" descr="A statue next to a body of water&#10;&#10;AI-generated content may be incorrect.">
            <a:extLst>
              <a:ext uri="{FF2B5EF4-FFF2-40B4-BE49-F238E27FC236}">
                <a16:creationId xmlns:a16="http://schemas.microsoft.com/office/drawing/2014/main" id="{1E06E9D8-10FA-0D35-7A98-9BCFB7F7F530}"/>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307643" y="1533100"/>
            <a:ext cx="11553002" cy="5169991"/>
          </a:xfrm>
          <a:prstGeom prst="rect">
            <a:avLst/>
          </a:prstGeom>
          <a:effectLst>
            <a:reflection endPos="0" dist="50800" dir="5400000" sy="-100000" algn="bl" rotWithShape="0"/>
          </a:effectLst>
        </p:spPr>
      </p:pic>
      <p:sp>
        <p:nvSpPr>
          <p:cNvPr id="22" name="TextBox 21">
            <a:extLst>
              <a:ext uri="{FF2B5EF4-FFF2-40B4-BE49-F238E27FC236}">
                <a16:creationId xmlns:a16="http://schemas.microsoft.com/office/drawing/2014/main" id="{A3CFB210-936F-C519-4896-F8C04F667D24}"/>
              </a:ext>
            </a:extLst>
          </p:cNvPr>
          <p:cNvSpPr txBox="1"/>
          <p:nvPr/>
        </p:nvSpPr>
        <p:spPr>
          <a:xfrm>
            <a:off x="539203" y="2174181"/>
            <a:ext cx="3951515" cy="1015663"/>
          </a:xfrm>
          <a:prstGeom prst="rect">
            <a:avLst/>
          </a:prstGeom>
          <a:noFill/>
        </p:spPr>
        <p:txBody>
          <a:bodyPr wrap="square" rtlCol="0">
            <a:spAutoFit/>
          </a:bodyPr>
          <a:lstStyle/>
          <a:p>
            <a:r>
              <a:rPr lang="en-NZ" sz="6000" dirty="0">
                <a:solidFill>
                  <a:schemeClr val="bg1"/>
                </a:solidFill>
              </a:rPr>
              <a:t>Welcome</a:t>
            </a:r>
          </a:p>
        </p:txBody>
      </p:sp>
      <p:sp>
        <p:nvSpPr>
          <p:cNvPr id="23" name="TextBox 22">
            <a:extLst>
              <a:ext uri="{FF2B5EF4-FFF2-40B4-BE49-F238E27FC236}">
                <a16:creationId xmlns:a16="http://schemas.microsoft.com/office/drawing/2014/main" id="{34F0CE0E-4D19-3FB7-DDF0-01787D3FD64C}"/>
              </a:ext>
            </a:extLst>
          </p:cNvPr>
          <p:cNvSpPr txBox="1"/>
          <p:nvPr/>
        </p:nvSpPr>
        <p:spPr>
          <a:xfrm>
            <a:off x="576942" y="2879703"/>
            <a:ext cx="4885327" cy="769441"/>
          </a:xfrm>
          <a:prstGeom prst="rect">
            <a:avLst/>
          </a:prstGeom>
          <a:noFill/>
          <a:effectLst>
            <a:outerShdw dist="38100" dir="5400000" algn="ctr" rotWithShape="0">
              <a:srgbClr val="000000">
                <a:alpha val="43137"/>
              </a:srgbClr>
            </a:outerShdw>
            <a:reflection blurRad="825500" stA="20000" endPos="65000" dist="50800" dir="5400000" sy="-100000" algn="bl" rotWithShape="0"/>
          </a:effectLst>
        </p:spPr>
        <p:txBody>
          <a:bodyPr wrap="square" rtlCol="0">
            <a:spAutoFit/>
          </a:bodyPr>
          <a:lstStyle/>
          <a:p>
            <a:r>
              <a:rPr lang="en-NZ" sz="4400"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bg1">
                    <a:alpha val="53000"/>
                  </a:schemeClr>
                </a:solidFill>
              </a:rPr>
              <a:t>Nau mai haere mai</a:t>
            </a:r>
          </a:p>
        </p:txBody>
      </p:sp>
      <p:sp>
        <p:nvSpPr>
          <p:cNvPr id="24" name="TextBox 23">
            <a:extLst>
              <a:ext uri="{FF2B5EF4-FFF2-40B4-BE49-F238E27FC236}">
                <a16:creationId xmlns:a16="http://schemas.microsoft.com/office/drawing/2014/main" id="{6111D4FE-4B2A-CC35-E1BC-D8AAC02D0725}"/>
              </a:ext>
            </a:extLst>
          </p:cNvPr>
          <p:cNvSpPr txBox="1"/>
          <p:nvPr/>
        </p:nvSpPr>
        <p:spPr>
          <a:xfrm>
            <a:off x="511627" y="3602038"/>
            <a:ext cx="5788357" cy="1231106"/>
          </a:xfrm>
          <a:prstGeom prst="rect">
            <a:avLst/>
          </a:prstGeom>
          <a:noFill/>
        </p:spPr>
        <p:txBody>
          <a:bodyPr wrap="square" rtlCol="0">
            <a:spAutoFit/>
          </a:bodyPr>
          <a:lstStyle/>
          <a:p>
            <a:r>
              <a:rPr lang="en-NZ" sz="2000" b="1" u="sng" dirty="0">
                <a:solidFill>
                  <a:schemeClr val="bg1">
                    <a:lumMod val="95000"/>
                  </a:schemeClr>
                </a:solidFill>
              </a:rPr>
              <a:t>Taupō Hospital &amp; Health Society</a:t>
            </a:r>
            <a:br>
              <a:rPr lang="en-NZ" sz="2000" dirty="0"/>
            </a:br>
            <a:r>
              <a:rPr lang="en-NZ" b="1" dirty="0">
                <a:solidFill>
                  <a:schemeClr val="tx1">
                    <a:lumMod val="85000"/>
                    <a:lumOff val="15000"/>
                  </a:schemeClr>
                </a:solidFill>
              </a:rPr>
              <a:t>Supporting the Taupō–</a:t>
            </a:r>
            <a:r>
              <a:rPr lang="en-NZ" b="1" dirty="0" err="1">
                <a:solidFill>
                  <a:schemeClr val="tx1">
                    <a:lumMod val="85000"/>
                    <a:lumOff val="15000"/>
                  </a:schemeClr>
                </a:solidFill>
              </a:rPr>
              <a:t>Tūrangi</a:t>
            </a:r>
            <a:r>
              <a:rPr lang="en-NZ" b="1" dirty="0">
                <a:solidFill>
                  <a:schemeClr val="tx1">
                    <a:lumMod val="85000"/>
                    <a:lumOff val="15000"/>
                  </a:schemeClr>
                </a:solidFill>
              </a:rPr>
              <a:t> &amp; </a:t>
            </a:r>
            <a:r>
              <a:rPr lang="en-NZ" b="1" dirty="0" err="1">
                <a:solidFill>
                  <a:schemeClr val="tx1">
                    <a:lumMod val="85000"/>
                    <a:lumOff val="15000"/>
                  </a:schemeClr>
                </a:solidFill>
              </a:rPr>
              <a:t>Mangakino</a:t>
            </a:r>
            <a:r>
              <a:rPr lang="en-NZ" b="1" dirty="0">
                <a:solidFill>
                  <a:schemeClr val="tx1">
                    <a:lumMod val="85000"/>
                    <a:lumOff val="15000"/>
                  </a:schemeClr>
                </a:solidFill>
              </a:rPr>
              <a:t> region by strengthening and supporting our local hospital and the health services it provides to our community</a:t>
            </a:r>
            <a:r>
              <a:rPr lang="en-NZ" b="1" dirty="0">
                <a:solidFill>
                  <a:schemeClr val="tx1">
                    <a:lumMod val="65000"/>
                    <a:lumOff val="35000"/>
                  </a:schemeClr>
                </a:solidFill>
              </a:rPr>
              <a:t>.</a:t>
            </a:r>
          </a:p>
        </p:txBody>
      </p:sp>
      <p:sp>
        <p:nvSpPr>
          <p:cNvPr id="33" name="Rectangle: Rounded Corners 32">
            <a:extLst>
              <a:ext uri="{FF2B5EF4-FFF2-40B4-BE49-F238E27FC236}">
                <a16:creationId xmlns:a16="http://schemas.microsoft.com/office/drawing/2014/main" id="{BE72A306-3716-66A5-1E97-9780D814F8AB}"/>
              </a:ext>
            </a:extLst>
          </p:cNvPr>
          <p:cNvSpPr/>
          <p:nvPr/>
        </p:nvSpPr>
        <p:spPr>
          <a:xfrm>
            <a:off x="3864065" y="5692192"/>
            <a:ext cx="1481183" cy="868265"/>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t>Click here</a:t>
            </a:r>
            <a:br>
              <a:rPr lang="en-NZ" sz="1400" dirty="0"/>
            </a:br>
            <a:r>
              <a:rPr lang="en-NZ" sz="1400" dirty="0"/>
              <a:t>Get in Touch</a:t>
            </a:r>
          </a:p>
        </p:txBody>
      </p:sp>
      <p:pic>
        <p:nvPicPr>
          <p:cNvPr id="5" name="Picture 4">
            <a:extLst>
              <a:ext uri="{FF2B5EF4-FFF2-40B4-BE49-F238E27FC236}">
                <a16:creationId xmlns:a16="http://schemas.microsoft.com/office/drawing/2014/main" id="{AB188A39-04A5-766F-290E-CE01E118DF56}"/>
              </a:ext>
            </a:extLst>
          </p:cNvPr>
          <p:cNvPicPr>
            <a:picLocks noChangeAspect="1"/>
          </p:cNvPicPr>
          <p:nvPr/>
        </p:nvPicPr>
        <p:blipFill>
          <a:blip r:embed="rId3"/>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74784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1000"/>
                                        <p:tgtEl>
                                          <p:spTgt spid="24">
                                            <p:txEl>
                                              <p:pRg st="0" end="0"/>
                                            </p:txEl>
                                          </p:spTgt>
                                        </p:tgtEl>
                                      </p:cBhvr>
                                    </p:animEffect>
                                    <p:anim calcmode="lin" valueType="num">
                                      <p:cBhvr>
                                        <p:cTn id="8"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72119" y="1599927"/>
            <a:ext cx="11709008" cy="1077219"/>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52462" y="1592108"/>
            <a:ext cx="11503357" cy="1077218"/>
          </a:xfrm>
          <a:prstGeom prst="rect">
            <a:avLst/>
          </a:prstGeom>
          <a:noFill/>
        </p:spPr>
        <p:txBody>
          <a:bodyPr wrap="square" rtlCol="0">
            <a:spAutoFit/>
          </a:bodyPr>
          <a:lstStyle/>
          <a:p>
            <a:pPr algn="ctr"/>
            <a:r>
              <a:rPr lang="en-NZ" sz="3200" b="1" dirty="0">
                <a:solidFill>
                  <a:schemeClr val="bg1"/>
                </a:solidFill>
              </a:rPr>
              <a:t>Background/</a:t>
            </a:r>
            <a:r>
              <a:rPr lang="en-NZ" sz="3200" b="1" dirty="0" err="1">
                <a:solidFill>
                  <a:schemeClr val="bg1">
                    <a:alpha val="45000"/>
                  </a:schemeClr>
                </a:solidFill>
              </a:rPr>
              <a:t>Horopaki</a:t>
            </a:r>
            <a:endParaRPr lang="en-NZ" sz="3200" b="1" dirty="0">
              <a:solidFill>
                <a:schemeClr val="bg1">
                  <a:alpha val="45000"/>
                </a:schemeClr>
              </a:solidFill>
            </a:endParaRPr>
          </a:p>
          <a:p>
            <a:pPr algn="ctr"/>
            <a:endParaRPr lang="en-NZ" sz="3200" b="1" dirty="0">
              <a:solidFill>
                <a:schemeClr val="bg1"/>
              </a:solidFill>
            </a:endParaRPr>
          </a:p>
        </p:txBody>
      </p:sp>
      <p:pic>
        <p:nvPicPr>
          <p:cNvPr id="5" name="Picture 4" descr="A building with trees in the background&#10;&#10;AI-generated content may be incorrect.">
            <a:extLst>
              <a:ext uri="{FF2B5EF4-FFF2-40B4-BE49-F238E27FC236}">
                <a16:creationId xmlns:a16="http://schemas.microsoft.com/office/drawing/2014/main" id="{81F509EC-48C0-F5E5-23DB-1D02FEDAD03D}"/>
              </a:ext>
            </a:extLst>
          </p:cNvPr>
          <p:cNvPicPr>
            <a:picLocks noChangeAspect="1"/>
          </p:cNvPicPr>
          <p:nvPr/>
        </p:nvPicPr>
        <p:blipFill>
          <a:blip r:embed="rId3">
            <a:duotone>
              <a:schemeClr val="accent4">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19656" y="3248150"/>
            <a:ext cx="11503357" cy="3435350"/>
          </a:xfrm>
          <a:prstGeom prst="rect">
            <a:avLst/>
          </a:prstGeom>
        </p:spPr>
      </p:pic>
      <p:sp>
        <p:nvSpPr>
          <p:cNvPr id="8" name="TextBox 7">
            <a:extLst>
              <a:ext uri="{FF2B5EF4-FFF2-40B4-BE49-F238E27FC236}">
                <a16:creationId xmlns:a16="http://schemas.microsoft.com/office/drawing/2014/main" id="{3C4B3164-D7D0-A451-25E5-831DF2889214}"/>
              </a:ext>
            </a:extLst>
          </p:cNvPr>
          <p:cNvSpPr txBox="1"/>
          <p:nvPr/>
        </p:nvSpPr>
        <p:spPr>
          <a:xfrm>
            <a:off x="439807" y="2792437"/>
            <a:ext cx="11528665" cy="4137030"/>
          </a:xfrm>
          <a:prstGeom prst="rect">
            <a:avLst/>
          </a:prstGeom>
          <a:noFill/>
        </p:spPr>
        <p:txBody>
          <a:bodyPr wrap="square" rtlCol="0">
            <a:spAutoFit/>
          </a:bodyPr>
          <a:lstStyle/>
          <a:p>
            <a:pPr marL="0" marR="0" algn="l">
              <a:spcBef>
                <a:spcPts val="400"/>
              </a:spcBef>
              <a:spcAft>
                <a:spcPts val="200"/>
              </a:spcAft>
            </a:pPr>
            <a:r>
              <a:rPr lang="en-NZ" sz="1800" b="1" i="0" dirty="0">
                <a:solidFill>
                  <a:srgbClr val="268291"/>
                </a:solidFill>
                <a:effectLst/>
              </a:rPr>
              <a:t>OUR HISTORY</a:t>
            </a:r>
            <a:endParaRPr lang="en-NZ" sz="1800" b="0" i="0" dirty="0">
              <a:solidFill>
                <a:srgbClr val="000000"/>
              </a:solidFill>
              <a:effectLst/>
            </a:endParaRPr>
          </a:p>
          <a:p>
            <a:pPr marL="0" marR="0" algn="l">
              <a:spcBef>
                <a:spcPts val="0"/>
              </a:spcBef>
              <a:spcAft>
                <a:spcPts val="400"/>
              </a:spcAft>
            </a:pPr>
            <a:r>
              <a:rPr lang="en-NZ" sz="1400" b="1" i="0" dirty="0">
                <a:solidFill>
                  <a:srgbClr val="163D4A"/>
                </a:solidFill>
                <a:effectLst/>
              </a:rPr>
              <a:t>Taupō Hospital &amp; Health Society</a:t>
            </a:r>
            <a:endParaRPr lang="en-NZ" sz="1400" b="0" i="0" dirty="0">
              <a:solidFill>
                <a:srgbClr val="000000"/>
              </a:solidFill>
              <a:effectLst/>
            </a:endParaRPr>
          </a:p>
          <a:p>
            <a:pPr marL="0" marR="0" algn="l">
              <a:spcBef>
                <a:spcPts val="0"/>
              </a:spcBef>
              <a:spcAft>
                <a:spcPts val="1200"/>
              </a:spcAft>
            </a:pPr>
            <a:r>
              <a:rPr lang="en-NZ" sz="1400" b="0" i="1" dirty="0">
                <a:solidFill>
                  <a:srgbClr val="4E5E65"/>
                </a:solidFill>
                <a:effectLst/>
              </a:rPr>
              <a:t>A community-led commitment to protecting and strengthening local health services since 1992</a:t>
            </a:r>
          </a:p>
          <a:p>
            <a:pPr marL="0" marR="0" algn="l">
              <a:spcBef>
                <a:spcPts val="0"/>
              </a:spcBef>
              <a:spcAft>
                <a:spcPts val="1200"/>
              </a:spcAft>
            </a:pPr>
            <a:r>
              <a:rPr lang="en-NZ" sz="1400" b="1" i="0" dirty="0">
                <a:solidFill>
                  <a:srgbClr val="365F91"/>
                </a:solidFill>
                <a:effectLst/>
              </a:rPr>
              <a:t>Community beginnings</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The Taupō Hospital &amp; Health Society grew from a major community meeting held more than 30 years ago, when rumours emerged that Taupō Hospital might close. More than 1,000 businesspeople, councillors, health professionals and community members attended. Together, they agreed to establish an independent society that would work alongside the hospital, raise funds for essential equipment and help safeguard local health services.</a:t>
            </a:r>
          </a:p>
          <a:p>
            <a:pPr marL="0" marR="0" algn="l">
              <a:spcBef>
                <a:spcPts val="0"/>
              </a:spcBef>
              <a:spcAft>
                <a:spcPts val="500"/>
              </a:spcAft>
            </a:pPr>
            <a:r>
              <a:rPr lang="en-NZ" sz="1400" b="0" i="0" dirty="0">
                <a:solidFill>
                  <a:srgbClr val="000000"/>
                </a:solidFill>
                <a:effectLst/>
              </a:rPr>
              <a:t>The Society was formally incorporated in 1992 and has been governed by a voluntary Board ever since.</a:t>
            </a:r>
          </a:p>
          <a:p>
            <a:pPr marL="0" marR="0" algn="l">
              <a:spcBef>
                <a:spcPts val="1100"/>
              </a:spcBef>
              <a:spcAft>
                <a:spcPts val="500"/>
              </a:spcAft>
            </a:pPr>
            <a:r>
              <a:rPr lang="en-NZ" sz="1400" b="1" i="0" dirty="0">
                <a:solidFill>
                  <a:srgbClr val="365F91"/>
                </a:solidFill>
                <a:effectLst/>
              </a:rPr>
              <a:t>Community leadership</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The Society’s leadership has included prominent local businesspeople, councillors and health professionals. Early and long-serving contributors included the late Mayor Joan Williamson, Joan Gartner, Bruce Hodgkinson, Eileen Clapperton.  Laurie Burdett, Joan Gartner, and Les </a:t>
            </a:r>
            <a:r>
              <a:rPr lang="en-NZ" sz="1400" b="0" i="0" dirty="0" err="1">
                <a:solidFill>
                  <a:srgbClr val="000000"/>
                </a:solidFill>
                <a:effectLst/>
              </a:rPr>
              <a:t>Winslade</a:t>
            </a:r>
            <a:r>
              <a:rPr lang="en-NZ" sz="1400" b="0" i="0" dirty="0">
                <a:solidFill>
                  <a:srgbClr val="000000"/>
                </a:solidFill>
                <a:effectLst/>
              </a:rPr>
              <a:t> have also supported the Society as patrons. Their collective service helped establish the Society as a trusted and enduring Taupō community organisation.</a:t>
            </a:r>
          </a:p>
          <a:p>
            <a:endParaRPr lang="en-NZ" sz="1200" dirty="0"/>
          </a:p>
        </p:txBody>
      </p:sp>
      <p:pic>
        <p:nvPicPr>
          <p:cNvPr id="2" name="Picture 1">
            <a:extLst>
              <a:ext uri="{FF2B5EF4-FFF2-40B4-BE49-F238E27FC236}">
                <a16:creationId xmlns:a16="http://schemas.microsoft.com/office/drawing/2014/main" id="{B9943ED6-FE5E-1992-00BB-04DE1D61F2CC}"/>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27243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4" end="4"/>
                                            </p:txEl>
                                          </p:spTgt>
                                        </p:tgtEl>
                                        <p:attrNameLst>
                                          <p:attrName>style.visibility</p:attrName>
                                        </p:attrNameLst>
                                      </p:cBhvr>
                                      <p:to>
                                        <p:strVal val="visible"/>
                                      </p:to>
                                    </p:set>
                                    <p:animEffect transition="in" filter="fade">
                                      <p:cBhvr>
                                        <p:cTn id="12" dur="1000"/>
                                        <p:tgtEl>
                                          <p:spTgt spid="8">
                                            <p:txEl>
                                              <p:pRg st="4" end="4"/>
                                            </p:txEl>
                                          </p:spTgt>
                                        </p:tgtEl>
                                      </p:cBhvr>
                                    </p:animEffect>
                                    <p:anim calcmode="lin" valueType="num">
                                      <p:cBhvr>
                                        <p:cTn id="1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animEffect transition="in" filter="fade">
                                      <p:cBhvr>
                                        <p:cTn id="17" dur="1000"/>
                                        <p:tgtEl>
                                          <p:spTgt spid="8">
                                            <p:txEl>
                                              <p:pRg st="5" end="5"/>
                                            </p:txEl>
                                          </p:spTgt>
                                        </p:tgtEl>
                                      </p:cBhvr>
                                    </p:animEffect>
                                    <p:anim calcmode="lin" valueType="num">
                                      <p:cBhvr>
                                        <p:cTn id="18"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xEl>
                                              <p:pRg st="6" end="6"/>
                                            </p:txEl>
                                          </p:spTgt>
                                        </p:tgtEl>
                                        <p:attrNameLst>
                                          <p:attrName>style.visibility</p:attrName>
                                        </p:attrNameLst>
                                      </p:cBhvr>
                                      <p:to>
                                        <p:strVal val="visible"/>
                                      </p:to>
                                    </p:set>
                                    <p:animEffect transition="in" filter="fade">
                                      <p:cBhvr>
                                        <p:cTn id="24" dur="1000"/>
                                        <p:tgtEl>
                                          <p:spTgt spid="8">
                                            <p:txEl>
                                              <p:pRg st="6" end="6"/>
                                            </p:txEl>
                                          </p:spTgt>
                                        </p:tgtEl>
                                      </p:cBhvr>
                                    </p:animEffect>
                                    <p:anim calcmode="lin" valueType="num">
                                      <p:cBhvr>
                                        <p:cTn id="25"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animEffect transition="in" filter="fade">
                                      <p:cBhvr>
                                        <p:cTn id="29" dur="1000"/>
                                        <p:tgtEl>
                                          <p:spTgt spid="8">
                                            <p:txEl>
                                              <p:pRg st="7" end="7"/>
                                            </p:txEl>
                                          </p:spTgt>
                                        </p:tgtEl>
                                      </p:cBhvr>
                                    </p:animEffect>
                                    <p:anim calcmode="lin" valueType="num">
                                      <p:cBhvr>
                                        <p:cTn id="3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95338" y="1529648"/>
            <a:ext cx="11709008" cy="1266031"/>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319656" y="1740085"/>
            <a:ext cx="11503357" cy="1077218"/>
          </a:xfrm>
          <a:prstGeom prst="rect">
            <a:avLst/>
          </a:prstGeom>
          <a:noFill/>
        </p:spPr>
        <p:txBody>
          <a:bodyPr wrap="square" rtlCol="0">
            <a:spAutoFit/>
          </a:bodyPr>
          <a:lstStyle/>
          <a:p>
            <a:pPr algn="ctr"/>
            <a:r>
              <a:rPr lang="en-NZ" sz="3200" b="1" dirty="0">
                <a:solidFill>
                  <a:schemeClr val="bg1"/>
                </a:solidFill>
              </a:rPr>
              <a:t>Background/</a:t>
            </a:r>
            <a:r>
              <a:rPr lang="en-NZ" sz="3200" b="1" dirty="0" err="1">
                <a:solidFill>
                  <a:schemeClr val="bg1">
                    <a:alpha val="45000"/>
                  </a:schemeClr>
                </a:solidFill>
              </a:rPr>
              <a:t>Horopaki</a:t>
            </a:r>
            <a:endParaRPr lang="en-NZ" sz="3200" b="1" dirty="0">
              <a:solidFill>
                <a:schemeClr val="bg1">
                  <a:alpha val="45000"/>
                </a:schemeClr>
              </a:solidFill>
            </a:endParaRPr>
          </a:p>
          <a:p>
            <a:pPr algn="ctr"/>
            <a:endParaRPr lang="en-NZ" sz="3200" b="1" dirty="0">
              <a:solidFill>
                <a:schemeClr val="bg1"/>
              </a:solidFill>
            </a:endParaRPr>
          </a:p>
        </p:txBody>
      </p:sp>
      <p:pic>
        <p:nvPicPr>
          <p:cNvPr id="5" name="Picture 4" descr="A building with trees in the background&#10;&#10;AI-generated content may be incorrect.">
            <a:extLst>
              <a:ext uri="{FF2B5EF4-FFF2-40B4-BE49-F238E27FC236}">
                <a16:creationId xmlns:a16="http://schemas.microsoft.com/office/drawing/2014/main" id="{81F509EC-48C0-F5E5-23DB-1D02FEDAD03D}"/>
              </a:ext>
            </a:extLst>
          </p:cNvPr>
          <p:cNvPicPr>
            <a:picLocks noChangeAspect="1"/>
          </p:cNvPicPr>
          <p:nvPr/>
        </p:nvPicPr>
        <p:blipFill>
          <a:blip r:embed="rId3">
            <a:duotone>
              <a:schemeClr val="accent4">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19656" y="3248150"/>
            <a:ext cx="11503357" cy="3435350"/>
          </a:xfrm>
          <a:prstGeom prst="rect">
            <a:avLst/>
          </a:prstGeom>
        </p:spPr>
      </p:pic>
      <p:sp>
        <p:nvSpPr>
          <p:cNvPr id="8" name="TextBox 7">
            <a:extLst>
              <a:ext uri="{FF2B5EF4-FFF2-40B4-BE49-F238E27FC236}">
                <a16:creationId xmlns:a16="http://schemas.microsoft.com/office/drawing/2014/main" id="{3C4B3164-D7D0-A451-25E5-831DF2889214}"/>
              </a:ext>
            </a:extLst>
          </p:cNvPr>
          <p:cNvSpPr txBox="1"/>
          <p:nvPr/>
        </p:nvSpPr>
        <p:spPr>
          <a:xfrm>
            <a:off x="398501" y="2928361"/>
            <a:ext cx="11345666" cy="3565079"/>
          </a:xfrm>
          <a:prstGeom prst="rect">
            <a:avLst/>
          </a:prstGeom>
          <a:noFill/>
        </p:spPr>
        <p:txBody>
          <a:bodyPr wrap="square" rtlCol="0">
            <a:spAutoFit/>
          </a:bodyPr>
          <a:lstStyle/>
          <a:p>
            <a:pPr marL="0" marR="0" algn="l">
              <a:spcBef>
                <a:spcPts val="400"/>
              </a:spcBef>
              <a:spcAft>
                <a:spcPts val="200"/>
              </a:spcAft>
            </a:pPr>
            <a:r>
              <a:rPr lang="en-NZ" sz="1800" b="1" i="0" dirty="0">
                <a:solidFill>
                  <a:srgbClr val="268291"/>
                </a:solidFill>
                <a:effectLst/>
              </a:rPr>
              <a:t>OUR HISTORY…</a:t>
            </a:r>
            <a:endParaRPr lang="en-NZ" sz="1800" b="0" i="0" dirty="0">
              <a:solidFill>
                <a:srgbClr val="000000"/>
              </a:solidFill>
              <a:effectLst/>
            </a:endParaRPr>
          </a:p>
          <a:p>
            <a:pPr marL="0" marR="0" algn="l">
              <a:spcBef>
                <a:spcPts val="0"/>
              </a:spcBef>
              <a:spcAft>
                <a:spcPts val="1200"/>
              </a:spcAft>
            </a:pPr>
            <a:r>
              <a:rPr lang="en-NZ" sz="1400" b="1" i="0" dirty="0">
                <a:solidFill>
                  <a:srgbClr val="365F91"/>
                </a:solidFill>
                <a:effectLst/>
              </a:rPr>
              <a:t>Fundraising and community support</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Funding has been generated through membership subscriptions, corporate contributions, Life in Perpetuity memberships, community fundraising, philanthropic gifts and generous bequests. A notable campaign raised more than $100,000 for the </a:t>
            </a:r>
            <a:r>
              <a:rPr lang="en-NZ" sz="1400" b="0" i="0" dirty="0" err="1">
                <a:solidFill>
                  <a:srgbClr val="000000"/>
                </a:solidFill>
                <a:effectLst/>
              </a:rPr>
              <a:t>Pihanga</a:t>
            </a:r>
            <a:r>
              <a:rPr lang="en-NZ" sz="1400" b="0" i="0" dirty="0">
                <a:solidFill>
                  <a:srgbClr val="000000"/>
                </a:solidFill>
                <a:effectLst/>
              </a:rPr>
              <a:t> Health Centre.</a:t>
            </a:r>
          </a:p>
          <a:p>
            <a:pPr marL="0" marR="0" algn="l">
              <a:spcBef>
                <a:spcPts val="0"/>
              </a:spcBef>
              <a:spcAft>
                <a:spcPts val="500"/>
              </a:spcAft>
            </a:pPr>
            <a:r>
              <a:rPr lang="en-NZ" sz="1400" b="0" i="0" dirty="0">
                <a:solidFill>
                  <a:srgbClr val="000000"/>
                </a:solidFill>
                <a:effectLst/>
              </a:rPr>
              <a:t>While Taupō Hospital remains the Society’s primary focus, support has also been provided to organisations contributing to local health and wellbeing, including Taupō Hospice, Anamata, Taupō Bowling Club and other eligible community agencies.</a:t>
            </a:r>
          </a:p>
          <a:p>
            <a:pPr marL="0" marR="0" algn="l">
              <a:spcBef>
                <a:spcPts val="1100"/>
              </a:spcBef>
              <a:spcAft>
                <a:spcPts val="500"/>
              </a:spcAft>
            </a:pPr>
            <a:r>
              <a:rPr lang="en-NZ" sz="1400" b="1" i="0" dirty="0">
                <a:solidFill>
                  <a:srgbClr val="365F91"/>
                </a:solidFill>
                <a:effectLst/>
              </a:rPr>
              <a:t>Our district and ongoing partnership</a:t>
            </a:r>
            <a:endParaRPr lang="en-NZ" sz="1400" b="0" i="0" dirty="0">
              <a:solidFill>
                <a:srgbClr val="000000"/>
              </a:solidFill>
              <a:effectLst/>
            </a:endParaRPr>
          </a:p>
          <a:p>
            <a:pPr marL="0" marR="0" algn="l">
              <a:spcBef>
                <a:spcPts val="0"/>
              </a:spcBef>
              <a:spcAft>
                <a:spcPts val="500"/>
              </a:spcAft>
            </a:pPr>
            <a:r>
              <a:rPr lang="en-NZ" sz="1400" b="0" i="0" dirty="0">
                <a:solidFill>
                  <a:srgbClr val="000000"/>
                </a:solidFill>
                <a:effectLst/>
              </a:rPr>
              <a:t>The Society serves the wider Taupō District, including Taupō, </a:t>
            </a:r>
            <a:r>
              <a:rPr lang="en-NZ" sz="1400" b="0" i="0" dirty="0" err="1">
                <a:solidFill>
                  <a:srgbClr val="000000"/>
                </a:solidFill>
                <a:effectLst/>
              </a:rPr>
              <a:t>Tūrangi</a:t>
            </a:r>
            <a:r>
              <a:rPr lang="en-NZ" sz="1400" b="0" i="0" dirty="0">
                <a:solidFill>
                  <a:srgbClr val="000000"/>
                </a:solidFill>
                <a:effectLst/>
              </a:rPr>
              <a:t> and </a:t>
            </a:r>
            <a:r>
              <a:rPr lang="en-NZ" sz="1400" b="0" i="0" dirty="0" err="1">
                <a:solidFill>
                  <a:srgbClr val="000000"/>
                </a:solidFill>
                <a:effectLst/>
              </a:rPr>
              <a:t>Mangakino</a:t>
            </a:r>
            <a:r>
              <a:rPr lang="en-NZ" sz="1400" b="0" i="0" dirty="0">
                <a:solidFill>
                  <a:srgbClr val="000000"/>
                </a:solidFill>
                <a:effectLst/>
              </a:rPr>
              <a:t>. It maintains a strong relationship with Taupō Hospital and Health New Zealand. </a:t>
            </a:r>
            <a:r>
              <a:rPr lang="en-NZ" sz="1400" dirty="0">
                <a:solidFill>
                  <a:srgbClr val="000000"/>
                </a:solidFill>
              </a:rPr>
              <a:t>For over 30 years</a:t>
            </a:r>
            <a:r>
              <a:rPr lang="en-NZ" sz="1400" b="0" i="0" dirty="0">
                <a:solidFill>
                  <a:srgbClr val="000000"/>
                </a:solidFill>
                <a:effectLst/>
              </a:rPr>
              <a:t>, the Society has worked closely with the hospital and Lakes health service management, supported by a formal Memorandum of Understanding.</a:t>
            </a:r>
          </a:p>
          <a:p>
            <a:pPr marL="0" marR="0" algn="l">
              <a:spcBef>
                <a:spcPts val="0"/>
              </a:spcBef>
              <a:spcAft>
                <a:spcPts val="500"/>
              </a:spcAft>
            </a:pPr>
            <a:r>
              <a:rPr lang="en-NZ" sz="1400" b="1" i="0" dirty="0">
                <a:solidFill>
                  <a:srgbClr val="000000"/>
                </a:solidFill>
                <a:effectLst/>
              </a:rPr>
              <a:t>Today, the Society continues the vision of its founders by bringing the community together to improve healthcare services, facilities and wellbeing throughout the district</a:t>
            </a:r>
            <a:r>
              <a:rPr lang="en-NZ" sz="1400" b="0" i="0" dirty="0">
                <a:solidFill>
                  <a:srgbClr val="000000"/>
                </a:solidFill>
                <a:effectLst/>
              </a:rPr>
              <a:t>.</a:t>
            </a:r>
          </a:p>
          <a:p>
            <a:endParaRPr lang="en-NZ" sz="1200" dirty="0"/>
          </a:p>
        </p:txBody>
      </p:sp>
      <p:pic>
        <p:nvPicPr>
          <p:cNvPr id="2" name="Picture 1">
            <a:extLst>
              <a:ext uri="{FF2B5EF4-FFF2-40B4-BE49-F238E27FC236}">
                <a16:creationId xmlns:a16="http://schemas.microsoft.com/office/drawing/2014/main" id="{51181D43-6343-FFBC-0218-14DF008A3CAE}"/>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242666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fade">
                                      <p:cBhvr>
                                        <p:cTn id="10" dur="500"/>
                                        <p:tgtEl>
                                          <p:spTgt spid="8">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Effect transition="in" filter="fade">
                                      <p:cBhvr>
                                        <p:cTn id="13" dur="500"/>
                                        <p:tgtEl>
                                          <p:spTgt spid="8">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xEl>
                                              <p:pRg st="4" end="4"/>
                                            </p:txEl>
                                          </p:spTgt>
                                        </p:tgtEl>
                                        <p:attrNameLst>
                                          <p:attrName>style.visibility</p:attrName>
                                        </p:attrNameLst>
                                      </p:cBhvr>
                                      <p:to>
                                        <p:strVal val="visible"/>
                                      </p:to>
                                    </p:set>
                                    <p:animEffect transition="in" filter="fade">
                                      <p:cBhvr>
                                        <p:cTn id="18" dur="500"/>
                                        <p:tgtEl>
                                          <p:spTgt spid="8">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Effect transition="in" filter="fade">
                                      <p:cBhvr>
                                        <p:cTn id="21" dur="500"/>
                                        <p:tgtEl>
                                          <p:spTgt spid="8">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6" end="6"/>
                                            </p:txEl>
                                          </p:spTgt>
                                        </p:tgtEl>
                                        <p:attrNameLst>
                                          <p:attrName>style.visibility</p:attrName>
                                        </p:attrNameLst>
                                      </p:cBhvr>
                                      <p:to>
                                        <p:strVal val="visible"/>
                                      </p:to>
                                    </p:set>
                                    <p:animEffect transition="in" filter="fade">
                                      <p:cBhvr>
                                        <p:cTn id="26" dur="1000"/>
                                        <p:tgtEl>
                                          <p:spTgt spid="8">
                                            <p:txEl>
                                              <p:pRg st="6" end="6"/>
                                            </p:txEl>
                                          </p:spTgt>
                                        </p:tgtEl>
                                      </p:cBhvr>
                                    </p:animEffect>
                                    <p:anim calcmode="lin" valueType="num">
                                      <p:cBhvr>
                                        <p:cTn id="2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8"/>
            <a:ext cx="11709008" cy="1231106"/>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871690" y="1800366"/>
            <a:ext cx="11503357" cy="1077218"/>
          </a:xfrm>
          <a:prstGeom prst="rect">
            <a:avLst/>
          </a:prstGeom>
          <a:noFill/>
        </p:spPr>
        <p:txBody>
          <a:bodyPr wrap="square" rtlCol="0">
            <a:spAutoFit/>
          </a:bodyPr>
          <a:lstStyle/>
          <a:p>
            <a:pPr algn="ctr"/>
            <a:r>
              <a:rPr lang="en-NZ" sz="3200" b="1" dirty="0">
                <a:solidFill>
                  <a:schemeClr val="bg1"/>
                </a:solidFill>
              </a:rPr>
              <a:t>Our Vision/ </a:t>
            </a:r>
            <a:r>
              <a:rPr lang="en-NZ" sz="3200" b="1" dirty="0" err="1">
                <a:solidFill>
                  <a:schemeClr val="bg1">
                    <a:alpha val="45000"/>
                  </a:schemeClr>
                </a:solidFill>
              </a:rPr>
              <a:t>Tō</a:t>
            </a:r>
            <a:r>
              <a:rPr lang="en-NZ" sz="3200" b="1" dirty="0">
                <a:solidFill>
                  <a:schemeClr val="bg1">
                    <a:alpha val="45000"/>
                  </a:schemeClr>
                </a:solidFill>
              </a:rPr>
              <a:t> </a:t>
            </a:r>
            <a:r>
              <a:rPr lang="en-NZ" sz="3200" b="1" dirty="0" err="1">
                <a:solidFill>
                  <a:schemeClr val="bg1">
                    <a:alpha val="45000"/>
                  </a:schemeClr>
                </a:solidFill>
              </a:rPr>
              <a:t>mātou</a:t>
            </a:r>
            <a:r>
              <a:rPr lang="en-NZ" sz="3200" b="1" dirty="0">
                <a:solidFill>
                  <a:schemeClr val="bg1">
                    <a:alpha val="45000"/>
                  </a:schemeClr>
                </a:solidFill>
              </a:rPr>
              <a:t> </a:t>
            </a:r>
            <a:r>
              <a:rPr lang="en-NZ" sz="3200" b="1" dirty="0" err="1">
                <a:solidFill>
                  <a:schemeClr val="bg1">
                    <a:alpha val="45000"/>
                  </a:schemeClr>
                </a:solidFill>
              </a:rPr>
              <a:t>tirohanga</a:t>
            </a:r>
            <a:endParaRPr lang="en-NZ" sz="3200" b="1" dirty="0">
              <a:solidFill>
                <a:schemeClr val="bg1">
                  <a:alpha val="45000"/>
                </a:schemeClr>
              </a:solidFill>
            </a:endParaRPr>
          </a:p>
          <a:p>
            <a:pPr algn="ctr"/>
            <a:endParaRPr lang="en-NZ" sz="3200" b="1" dirty="0">
              <a:solidFill>
                <a:schemeClr val="bg1"/>
              </a:solidFill>
            </a:endParaRPr>
          </a:p>
        </p:txBody>
      </p:sp>
      <p:sp>
        <p:nvSpPr>
          <p:cNvPr id="2" name="TextBox 1">
            <a:extLst>
              <a:ext uri="{FF2B5EF4-FFF2-40B4-BE49-F238E27FC236}">
                <a16:creationId xmlns:a16="http://schemas.microsoft.com/office/drawing/2014/main" id="{B68E3351-91F0-7508-16DA-5C8746D3A665}"/>
              </a:ext>
            </a:extLst>
          </p:cNvPr>
          <p:cNvSpPr txBox="1"/>
          <p:nvPr/>
        </p:nvSpPr>
        <p:spPr>
          <a:xfrm>
            <a:off x="447147" y="3490184"/>
            <a:ext cx="10825843" cy="1292662"/>
          </a:xfrm>
          <a:prstGeom prst="rect">
            <a:avLst/>
          </a:prstGeom>
          <a:noFill/>
        </p:spPr>
        <p:txBody>
          <a:bodyPr wrap="square">
            <a:spAutoFit/>
          </a:bodyPr>
          <a:lstStyle/>
          <a:p>
            <a:r>
              <a:rPr lang="en-NZ" sz="2000" b="1" dirty="0">
                <a:solidFill>
                  <a:schemeClr val="tx2">
                    <a:lumMod val="75000"/>
                    <a:lumOff val="25000"/>
                  </a:schemeClr>
                </a:solidFill>
              </a:rPr>
              <a:t>MISSION/VISION</a:t>
            </a:r>
          </a:p>
          <a:p>
            <a:endParaRPr lang="en-NZ" sz="1200" b="1" dirty="0"/>
          </a:p>
          <a:p>
            <a:r>
              <a:rPr lang="en-NZ" sz="1200" b="0" i="0" dirty="0">
                <a:solidFill>
                  <a:srgbClr val="222222"/>
                </a:solidFill>
                <a:effectLst/>
              </a:rPr>
              <a:t>“</a:t>
            </a:r>
            <a:r>
              <a:rPr lang="en-NZ" sz="1400" b="0" i="0" dirty="0">
                <a:solidFill>
                  <a:srgbClr val="222222"/>
                </a:solidFill>
                <a:effectLst/>
              </a:rPr>
              <a:t> The Society is committed to supporting and improving health and hospital services in the Taupo region. We strive to create a healthier, more vibrant community through dedicated support and strategic initiatives." </a:t>
            </a:r>
            <a:endParaRPr lang="en-NZ" sz="1400" b="1" dirty="0"/>
          </a:p>
          <a:p>
            <a:pPr algn="ctr"/>
            <a:endParaRPr lang="en-NZ" b="0" i="0" dirty="0">
              <a:solidFill>
                <a:schemeClr val="tx1">
                  <a:lumMod val="50000"/>
                  <a:lumOff val="50000"/>
                </a:schemeClr>
              </a:solidFill>
              <a:effectLst/>
              <a:latin typeface="Montserrat" panose="00000500000000000000" pitchFamily="2" charset="0"/>
            </a:endParaRPr>
          </a:p>
        </p:txBody>
      </p:sp>
      <p:pic>
        <p:nvPicPr>
          <p:cNvPr id="8" name="Picture 7" descr="A white person holding a puzzle piece with a blue puzzle piece&#10;&#10;AI-generated content may be incorrect.">
            <a:extLst>
              <a:ext uri="{FF2B5EF4-FFF2-40B4-BE49-F238E27FC236}">
                <a16:creationId xmlns:a16="http://schemas.microsoft.com/office/drawing/2014/main" id="{E58D633B-27E8-A15C-DC5B-FD2B5D40C743}"/>
              </a:ext>
            </a:extLst>
          </p:cNvPr>
          <p:cNvPicPr>
            <a:picLocks noChangeAspect="1"/>
          </p:cNvPicPr>
          <p:nvPr/>
        </p:nvPicPr>
        <p:blipFill>
          <a:blip r:embed="rId3">
            <a:alphaModFix amt="21000"/>
            <a:extLst>
              <a:ext uri="{28A0092B-C50C-407E-A947-70E740481C1C}">
                <a14:useLocalDpi xmlns:a14="http://schemas.microsoft.com/office/drawing/2010/main" val="0"/>
              </a:ext>
            </a:extLst>
          </a:blip>
          <a:stretch>
            <a:fillRect/>
          </a:stretch>
        </p:blipFill>
        <p:spPr>
          <a:xfrm>
            <a:off x="5562600" y="3177731"/>
            <a:ext cx="4223657" cy="3680269"/>
          </a:xfrm>
          <a:prstGeom prst="rect">
            <a:avLst/>
          </a:prstGeom>
        </p:spPr>
      </p:pic>
      <p:pic>
        <p:nvPicPr>
          <p:cNvPr id="3" name="Picture 2">
            <a:extLst>
              <a:ext uri="{FF2B5EF4-FFF2-40B4-BE49-F238E27FC236}">
                <a16:creationId xmlns:a16="http://schemas.microsoft.com/office/drawing/2014/main" id="{26875937-C415-1A23-18EC-F88E4590F75A}"/>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84922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3"/>
          <a:stretch>
            <a:fillRect/>
          </a:stretch>
        </p:blipFill>
        <p:spPr>
          <a:xfrm>
            <a:off x="241496" y="1742307"/>
            <a:ext cx="11709008" cy="1348599"/>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657648" y="1816441"/>
            <a:ext cx="11503357" cy="1077218"/>
          </a:xfrm>
          <a:prstGeom prst="rect">
            <a:avLst/>
          </a:prstGeom>
          <a:noFill/>
        </p:spPr>
        <p:txBody>
          <a:bodyPr wrap="square" rtlCol="0">
            <a:spAutoFit/>
          </a:bodyPr>
          <a:lstStyle/>
          <a:p>
            <a:pPr algn="ctr"/>
            <a:r>
              <a:rPr lang="en-NZ" sz="3200" b="1" dirty="0">
                <a:solidFill>
                  <a:schemeClr val="bg1"/>
                </a:solidFill>
              </a:rPr>
              <a:t>What we do?/ </a:t>
            </a:r>
            <a:r>
              <a:rPr lang="en-NZ" sz="3200" b="1" dirty="0">
                <a:solidFill>
                  <a:schemeClr val="bg1">
                    <a:alpha val="45000"/>
                  </a:schemeClr>
                </a:solidFill>
              </a:rPr>
              <a:t>Ā </a:t>
            </a:r>
            <a:r>
              <a:rPr lang="en-NZ" sz="3200" b="1" dirty="0" err="1">
                <a:solidFill>
                  <a:schemeClr val="bg1">
                    <a:alpha val="45000"/>
                  </a:schemeClr>
                </a:solidFill>
              </a:rPr>
              <a:t>mātou</a:t>
            </a:r>
            <a:r>
              <a:rPr lang="en-NZ" sz="3200" b="1" dirty="0">
                <a:solidFill>
                  <a:schemeClr val="bg1">
                    <a:alpha val="45000"/>
                  </a:schemeClr>
                </a:solidFill>
              </a:rPr>
              <a:t> mahi</a:t>
            </a:r>
          </a:p>
          <a:p>
            <a:pPr algn="ctr"/>
            <a:endParaRPr lang="en-NZ" sz="3200" b="1" dirty="0">
              <a:solidFill>
                <a:schemeClr val="bg1"/>
              </a:solidFill>
            </a:endParaRPr>
          </a:p>
        </p:txBody>
      </p:sp>
      <p:sp>
        <p:nvSpPr>
          <p:cNvPr id="2" name="TextBox 1">
            <a:extLst>
              <a:ext uri="{FF2B5EF4-FFF2-40B4-BE49-F238E27FC236}">
                <a16:creationId xmlns:a16="http://schemas.microsoft.com/office/drawing/2014/main" id="{4D8B27F5-DF6A-0C17-5767-7E007EEBA78C}"/>
              </a:ext>
            </a:extLst>
          </p:cNvPr>
          <p:cNvSpPr txBox="1"/>
          <p:nvPr/>
        </p:nvSpPr>
        <p:spPr>
          <a:xfrm>
            <a:off x="307643" y="3180989"/>
            <a:ext cx="11547659" cy="4041106"/>
          </a:xfrm>
          <a:prstGeom prst="rect">
            <a:avLst/>
          </a:prstGeom>
          <a:noFill/>
        </p:spPr>
        <p:txBody>
          <a:bodyPr wrap="square" rtlCol="0">
            <a:spAutoFit/>
          </a:bodyPr>
          <a:lstStyle/>
          <a:p>
            <a:pPr algn="just" rtl="0">
              <a:spcBef>
                <a:spcPts val="0"/>
              </a:spcBef>
              <a:spcAft>
                <a:spcPts val="1000"/>
              </a:spcAft>
            </a:pPr>
            <a:r>
              <a:rPr lang="en-NZ" sz="1800" b="1" i="0" u="none" strike="noStrike" dirty="0">
                <a:solidFill>
                  <a:srgbClr val="005E76"/>
                </a:solidFill>
                <a:effectLst/>
              </a:rPr>
              <a:t>PURPOSE</a:t>
            </a:r>
            <a:endParaRPr lang="en-NZ" b="1" dirty="0">
              <a:effectLst/>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The </a:t>
            </a:r>
            <a:r>
              <a:rPr lang="en-NZ" sz="1400" b="1" kern="100" dirty="0">
                <a:effectLst/>
                <a:ea typeface="Aptos" panose="020B0004020202020204" pitchFamily="34" charset="0"/>
                <a:cs typeface="Times New Roman" panose="02020603050405020304" pitchFamily="18" charset="0"/>
              </a:rPr>
              <a:t>Taupō Hospital &amp; Health Society</a:t>
            </a:r>
            <a:r>
              <a:rPr lang="en-NZ" sz="1400" kern="100" dirty="0">
                <a:effectLst/>
                <a:ea typeface="Aptos" panose="020B0004020202020204" pitchFamily="34" charset="0"/>
                <a:cs typeface="Times New Roman" panose="02020603050405020304" pitchFamily="18" charset="0"/>
              </a:rPr>
              <a:t> is established and operated exclusively for charitable purposes. Our objectives are to:</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Support the continuation and development of healthcare services for people throughout the Taupō region.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Promote initiatives that support people in need of physical, mental or spiritual healthcare, regardless of race, culture, beliefs or religious affiliation.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Use the Society’s funds to support and assist Taupō Hospital through financial contributions, gifts, loans or other forms of assistance considered appropriate by the Committee.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Support the advancement, education, promotion or benefit of other organisations whose work aligns with the Society’s charitable aims and purposes. </a:t>
            </a:r>
          </a:p>
          <a:p>
            <a:pPr marL="342900" lvl="0" indent="-342900">
              <a:lnSpc>
                <a:spcPct val="115000"/>
              </a:lnSpc>
              <a:spcAft>
                <a:spcPts val="800"/>
              </a:spcAft>
              <a:buSzPts val="1000"/>
              <a:buFont typeface="Symbol" panose="05050102010706020507" pitchFamily="18" charset="2"/>
              <a:buChar char=""/>
              <a:tabLst>
                <a:tab pos="457200" algn="l"/>
              </a:tabLst>
            </a:pPr>
            <a:r>
              <a:rPr lang="en-NZ" sz="1400" kern="100" dirty="0">
                <a:effectLst/>
                <a:ea typeface="Aptos" panose="020B0004020202020204" pitchFamily="34" charset="0"/>
                <a:cs typeface="Times New Roman" panose="02020603050405020304" pitchFamily="18" charset="0"/>
              </a:rPr>
              <a:t>Work collaboratively with incorporated and unincorporated organisations that share aims and purposes similar to those of the Society. </a:t>
            </a:r>
          </a:p>
          <a:p>
            <a:pPr>
              <a:lnSpc>
                <a:spcPct val="115000"/>
              </a:lnSpc>
              <a:spcAft>
                <a:spcPts val="800"/>
              </a:spcAft>
            </a:pPr>
            <a:r>
              <a:rPr lang="en-NZ" sz="1800" kern="100" dirty="0">
                <a:effectLst/>
                <a:latin typeface="Aptos" panose="020B0004020202020204" pitchFamily="34" charset="0"/>
                <a:ea typeface="Aptos" panose="020B0004020202020204" pitchFamily="34" charset="0"/>
                <a:cs typeface="Times New Roman" panose="02020603050405020304" pitchFamily="18" charset="0"/>
              </a:rPr>
              <a:t> </a:t>
            </a:r>
          </a:p>
          <a:p>
            <a:endParaRPr lang="en-NZ" dirty="0"/>
          </a:p>
        </p:txBody>
      </p:sp>
      <p:pic>
        <p:nvPicPr>
          <p:cNvPr id="3" name="Picture 2">
            <a:extLst>
              <a:ext uri="{FF2B5EF4-FFF2-40B4-BE49-F238E27FC236}">
                <a16:creationId xmlns:a16="http://schemas.microsoft.com/office/drawing/2014/main" id="{CF4E6D4A-2AB1-A175-0706-EBED5B3BE5BD}"/>
              </a:ext>
            </a:extLst>
          </p:cNvPr>
          <p:cNvPicPr>
            <a:picLocks noChangeAspect="1"/>
          </p:cNvPicPr>
          <p:nvPr/>
        </p:nvPicPr>
        <p:blipFill>
          <a:blip r:embed="rId4"/>
          <a:stretch>
            <a:fillRect/>
          </a:stretch>
        </p:blipFill>
        <p:spPr>
          <a:xfrm>
            <a:off x="241496" y="154909"/>
            <a:ext cx="11553002" cy="1378191"/>
          </a:xfrm>
          <a:prstGeom prst="rect">
            <a:avLst/>
          </a:prstGeom>
        </p:spPr>
      </p:pic>
      <p:pic>
        <p:nvPicPr>
          <p:cNvPr id="11" name="Picture 10" descr="A group of people in the water&#10;&#10;AI-generated content may be incorrect.">
            <a:extLst>
              <a:ext uri="{FF2B5EF4-FFF2-40B4-BE49-F238E27FC236}">
                <a16:creationId xmlns:a16="http://schemas.microsoft.com/office/drawing/2014/main" id="{D1CD5363-493D-6631-6130-DFF872AC39F8}"/>
              </a:ext>
            </a:extLst>
          </p:cNvPr>
          <p:cNvPicPr>
            <a:picLocks noChangeAspect="1"/>
          </p:cNvPicPr>
          <p:nvPr/>
        </p:nvPicPr>
        <p:blipFill>
          <a:blip r:embed="rId5">
            <a:alphaModFix amt="37000"/>
            <a:extLst>
              <a:ext uri="{28A0092B-C50C-407E-A947-70E740481C1C}">
                <a14:useLocalDpi xmlns:a14="http://schemas.microsoft.com/office/drawing/2010/main" val="0"/>
              </a:ext>
            </a:extLst>
          </a:blip>
          <a:stretch>
            <a:fillRect/>
          </a:stretch>
        </p:blipFill>
        <p:spPr>
          <a:xfrm>
            <a:off x="2319867" y="3872007"/>
            <a:ext cx="6409267" cy="2831084"/>
          </a:xfrm>
          <a:prstGeom prst="rect">
            <a:avLst/>
          </a:prstGeom>
        </p:spPr>
      </p:pic>
    </p:spTree>
    <p:extLst>
      <p:ext uri="{BB962C8B-B14F-4D97-AF65-F5344CB8AC3E}">
        <p14:creationId xmlns:p14="http://schemas.microsoft.com/office/powerpoint/2010/main" val="317108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1000"/>
                                        <p:tgtEl>
                                          <p:spTgt spid="2">
                                            <p:txEl>
                                              <p:pRg st="3" end="3"/>
                                            </p:txEl>
                                          </p:spTgt>
                                        </p:tgtEl>
                                      </p:cBhvr>
                                    </p:animEffect>
                                    <p:anim calcmode="lin" valueType="num">
                                      <p:cBhvr>
                                        <p:cTn id="1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1000"/>
                                        <p:tgtEl>
                                          <p:spTgt spid="2">
                                            <p:txEl>
                                              <p:pRg st="4" end="4"/>
                                            </p:txEl>
                                          </p:spTgt>
                                        </p:tgtEl>
                                      </p:cBhvr>
                                    </p:animEffect>
                                    <p:anim calcmode="lin" valueType="num">
                                      <p:cBhvr>
                                        <p:cTn id="2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1000"/>
                                        <p:tgtEl>
                                          <p:spTgt spid="2">
                                            <p:txEl>
                                              <p:pRg st="5" end="5"/>
                                            </p:txEl>
                                          </p:spTgt>
                                        </p:tgtEl>
                                      </p:cBhvr>
                                    </p:animEffect>
                                    <p:anim calcmode="lin" valueType="num">
                                      <p:cBhvr>
                                        <p:cTn id="28"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1000"/>
                                        <p:tgtEl>
                                          <p:spTgt spid="2">
                                            <p:txEl>
                                              <p:pRg st="6" end="6"/>
                                            </p:txEl>
                                          </p:spTgt>
                                        </p:tgtEl>
                                      </p:cBhvr>
                                    </p:animEffect>
                                    <p:anim calcmode="lin" valueType="num">
                                      <p:cBhvr>
                                        <p:cTn id="3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468086" y="2950029"/>
            <a:ext cx="11299371" cy="3811785"/>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88029" y="2692854"/>
            <a:ext cx="9535884" cy="4029949"/>
          </a:xfrm>
          <a:prstGeom prst="rect">
            <a:avLst/>
          </a:prstGeom>
          <a:noFill/>
        </p:spPr>
        <p:txBody>
          <a:bodyPr wrap="square" rtlCol="0">
            <a:spAutoFit/>
          </a:bodyPr>
          <a:lstStyle/>
          <a:p>
            <a:pPr>
              <a:lnSpc>
                <a:spcPct val="115000"/>
              </a:lnSpc>
              <a:spcAft>
                <a:spcPts val="800"/>
              </a:spcAft>
            </a:pPr>
            <a:r>
              <a:rPr lang="en-NZ" sz="2800" b="1" kern="100" dirty="0">
                <a:solidFill>
                  <a:srgbClr val="E97132"/>
                </a:solidFill>
                <a:effectLst/>
                <a:ea typeface="Aptos" panose="020B0004020202020204" pitchFamily="34" charset="0"/>
                <a:cs typeface="Times New Roman" panose="02020603050405020304" pitchFamily="18" charset="0"/>
              </a:rPr>
              <a:t>Lil Hancock</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CHAIR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  Strategic Leadership, Financial &amp; Accounting,  Health &amp; Community, Fundraising, Board &amp; Committee Governance, Stakeholder Engagement, Community Advocacy, Strategic Planning &amp; Oversight, Accountability &amp; Decision-Making,  Community Wellbeing &amp; Equity</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Lil has been a committee member of the Society since 2011 and Chairperson since 2017, bringing more than 45 years of leadership and governance experience across the not-for-profit, health, and community sectors. Under her leadership, the Society successfully raised $350,000 for an echocardiogram machine for Taupo Hospital, strengthening cardiac services for the local community.</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With qualifications in Business Management and Accounting, Lil brings strong financial and strategic expertise and a deep commitment to community wellbeing. She has held leadership roles with COGS and received the Lake Taupō District Sports Awards Supreme Award for her outstanding service to the community. Her dedication to equitable access to health and community services continues to shape the Society’s vision and impact across the region.</a:t>
            </a:r>
          </a:p>
        </p:txBody>
      </p:sp>
      <p:pic>
        <p:nvPicPr>
          <p:cNvPr id="3" name="Picture 2" descr="A close-up of a person&#10;&#10;AI-generated content may be incorrect.">
            <a:extLst>
              <a:ext uri="{FF2B5EF4-FFF2-40B4-BE49-F238E27FC236}">
                <a16:creationId xmlns:a16="http://schemas.microsoft.com/office/drawing/2014/main" id="{A40F152B-DFD6-D193-F085-6C477B35F3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086" y="2876650"/>
            <a:ext cx="1393371" cy="2046304"/>
          </a:xfrm>
          <a:prstGeom prst="rect">
            <a:avLst/>
          </a:prstGeom>
        </p:spPr>
      </p:pic>
      <p:pic>
        <p:nvPicPr>
          <p:cNvPr id="2" name="Picture 1">
            <a:extLst>
              <a:ext uri="{FF2B5EF4-FFF2-40B4-BE49-F238E27FC236}">
                <a16:creationId xmlns:a16="http://schemas.microsoft.com/office/drawing/2014/main" id="{D29BB24A-3FA3-FF2A-F831-55C1313CD47B}"/>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7155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Effect transition="in" filter="fade">
                                      <p:cBhvr>
                                        <p:cTn id="7" dur="500"/>
                                        <p:tgtEl>
                                          <p:spTgt spid="15">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4" end="4"/>
                                            </p:txEl>
                                          </p:spTgt>
                                        </p:tgtEl>
                                        <p:attrNameLst>
                                          <p:attrName>style.visibility</p:attrName>
                                        </p:attrNameLst>
                                      </p:cBhvr>
                                      <p:to>
                                        <p:strVal val="visible"/>
                                      </p:to>
                                    </p:set>
                                    <p:animEffect transition="in" filter="fade">
                                      <p:cBhvr>
                                        <p:cTn id="10"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468086" y="2950029"/>
            <a:ext cx="11299371" cy="3811785"/>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1981200" y="2692854"/>
            <a:ext cx="9742714" cy="3002360"/>
          </a:xfrm>
          <a:prstGeom prst="rect">
            <a:avLst/>
          </a:prstGeom>
          <a:noFill/>
        </p:spPr>
        <p:txBody>
          <a:bodyPr wrap="square" rtlCol="0">
            <a:spAutoFit/>
          </a:bodyPr>
          <a:lstStyle/>
          <a:p>
            <a:pPr>
              <a:lnSpc>
                <a:spcPct val="115000"/>
              </a:lnSpc>
              <a:spcAft>
                <a:spcPts val="800"/>
              </a:spcAft>
            </a:pPr>
            <a:r>
              <a:rPr lang="en-NZ" sz="2800" b="1" kern="100" dirty="0">
                <a:solidFill>
                  <a:srgbClr val="E97132"/>
                </a:solidFill>
                <a:effectLst/>
                <a:ea typeface="Aptos" panose="020B0004020202020204" pitchFamily="34" charset="0"/>
                <a:cs typeface="Times New Roman" panose="02020603050405020304" pitchFamily="18" charset="0"/>
              </a:rPr>
              <a:t>GILMA OROZCO</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DEPUTY CHAIR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Strategic thinking, research and analytical skills, Organisational development,  collaborative leadership. Strong understanding of community wellbeing, empowerment and not-for-profit sustainability,</a:t>
            </a:r>
            <a:endParaRPr lang="en-NZ" sz="1400" kern="100" dirty="0">
              <a:effectLst/>
              <a:ea typeface="Aptos" panose="020B0004020202020204" pitchFamily="34" charset="0"/>
              <a:cs typeface="Times New Roman" panose="02020603050405020304" pitchFamily="18" charset="0"/>
            </a:endParaRPr>
          </a:p>
          <a:p>
            <a:r>
              <a:rPr lang="en-NZ" sz="1400" dirty="0">
                <a:effectLst/>
                <a:ea typeface="Aptos" panose="020B0004020202020204" pitchFamily="34" charset="0"/>
                <a:cs typeface="Times New Roman" panose="02020603050405020304" pitchFamily="18" charset="0"/>
              </a:rPr>
              <a:t>Gilma has been a valued member since 2011, commencing her involvement as Administrator and playing a key role in supporting the Society’s ongoing impact within the Taupō community. With qualifications in social research psychology and more than 18 years’ experience across the public and private sectors in NZ and internationally, she brings extensive expertise in research, community engagement, and organisational development. Passionate about empowering communities and strengthening wellbeing outcomes, Gilma contributes strategic insight and a strong commitment to the growth and sustainability of not-for-profit initiatives.</a:t>
            </a:r>
            <a:endParaRPr lang="en-NZ" sz="1400" dirty="0"/>
          </a:p>
        </p:txBody>
      </p:sp>
      <p:pic>
        <p:nvPicPr>
          <p:cNvPr id="3" name="Picture 2" descr="A person with long hair wearing a white shirt&#10;&#10;AI-generated content may be incorrect.">
            <a:extLst>
              <a:ext uri="{FF2B5EF4-FFF2-40B4-BE49-F238E27FC236}">
                <a16:creationId xmlns:a16="http://schemas.microsoft.com/office/drawing/2014/main" id="{969AB5C7-AB13-9231-D28E-EC2F95177F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087" y="2773118"/>
            <a:ext cx="1322136" cy="1955634"/>
          </a:xfrm>
          <a:prstGeom prst="rect">
            <a:avLst/>
          </a:prstGeom>
        </p:spPr>
      </p:pic>
      <p:pic>
        <p:nvPicPr>
          <p:cNvPr id="2" name="Picture 1">
            <a:extLst>
              <a:ext uri="{FF2B5EF4-FFF2-40B4-BE49-F238E27FC236}">
                <a16:creationId xmlns:a16="http://schemas.microsoft.com/office/drawing/2014/main" id="{39378CDE-F1FD-E88D-C9AC-93A2365A9682}"/>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337361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468086" y="2950029"/>
            <a:ext cx="11299371" cy="3811785"/>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22714" y="2692854"/>
            <a:ext cx="9601200" cy="3605218"/>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ea typeface="Aptos" panose="020B0004020202020204" pitchFamily="34" charset="0"/>
                <a:cs typeface="Times New Roman" panose="02020603050405020304" pitchFamily="18" charset="0"/>
              </a:rPr>
              <a:t>DEBBIE DAVIES</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BOARD MEMBER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Strategic Leadership, Financial Governance &amp; Oversight,   Audit &amp; Risk Management, Compliance &amp; Accountability, Iwi &amp; Community,  Collaborative Leadership.</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Deb is an experienced governance, finance, and administration professional with more than 20 years of experience across iwi, not-for-profit, commercial, and public-sector organisations. She brings a strategic, values-driven approach, grounded in strong relationships with iwi, hapū, and community, alongside deep expertise in financial management, compliance, and stakeholder engagement.</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Deb holds multiple governance roles within Raukawa Group, including Audit &amp; Risk Chair and Deputy Chair of the Raukawa Charitable Trust. She is recognised for her collaborative leadership, clear communication, and ability to bridge governance and operational delivery. Her experience enables her to provide sound strategic oversight while maintaining a strong focus on accountability, risk, and sustainable outcomes.</a:t>
            </a:r>
          </a:p>
        </p:txBody>
      </p:sp>
      <p:pic>
        <p:nvPicPr>
          <p:cNvPr id="5" name="Picture 4" descr="A person wearing glasses and a black and white shirt&#10;&#10;AI-generated content may be incorrect.">
            <a:extLst>
              <a:ext uri="{FF2B5EF4-FFF2-40B4-BE49-F238E27FC236}">
                <a16:creationId xmlns:a16="http://schemas.microsoft.com/office/drawing/2014/main" id="{F0B60301-CF7A-3B14-170E-A2953CFF9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035" y="2856965"/>
            <a:ext cx="1486435" cy="1486435"/>
          </a:xfrm>
          <a:prstGeom prst="rect">
            <a:avLst/>
          </a:prstGeom>
        </p:spPr>
      </p:pic>
      <p:pic>
        <p:nvPicPr>
          <p:cNvPr id="2" name="Picture 1">
            <a:extLst>
              <a:ext uri="{FF2B5EF4-FFF2-40B4-BE49-F238E27FC236}">
                <a16:creationId xmlns:a16="http://schemas.microsoft.com/office/drawing/2014/main" id="{98CE60C2-9E7C-696D-F1E9-E7DFB03B9DE9}"/>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80032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anim calcmode="lin" valueType="num">
                                      <p:cBhvr additive="base">
                                        <p:cTn id="1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22713" y="2657194"/>
            <a:ext cx="9644743" cy="2759345"/>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ea typeface="Aptos" panose="020B0004020202020204" pitchFamily="34" charset="0"/>
                <a:cs typeface="Times New Roman" panose="02020603050405020304" pitchFamily="18" charset="0"/>
              </a:rPr>
              <a:t>TRENT HANCOCK</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BOARD MEMBER</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Financial administration and management, financial stewardship, governance, budgeting and reporting, treasury management, organisational administration, compliance, risk awareness, extensive community organisation experience.</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Trent is a retired office manager with extensive experience in financial administration and governance. He has served as Treasurer of the Lake Taupō Sports Advisory Council and the Lake Taupō Sports Foundation for more than 25 years, and as Treasurer of the Society for five years. He has also been Treasurer of the golf section of the Taupō Cosmopolitan Club. Trent brings proven financial stewardship, reliability, and a strong commitment to supporting community organisations.</a:t>
            </a:r>
          </a:p>
        </p:txBody>
      </p:sp>
      <p:pic>
        <p:nvPicPr>
          <p:cNvPr id="3" name="Picture 2" descr="A person smiling at the camera&#10;&#10;AI-generated content may be incorrect.">
            <a:extLst>
              <a:ext uri="{FF2B5EF4-FFF2-40B4-BE49-F238E27FC236}">
                <a16:creationId xmlns:a16="http://schemas.microsoft.com/office/drawing/2014/main" id="{760629D2-2F4E-4FC4-CE3B-41658FEC2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39049"/>
            <a:ext cx="1534888" cy="1874321"/>
          </a:xfrm>
          <a:prstGeom prst="rect">
            <a:avLst/>
          </a:prstGeom>
        </p:spPr>
      </p:pic>
      <p:pic>
        <p:nvPicPr>
          <p:cNvPr id="2" name="Picture 1">
            <a:extLst>
              <a:ext uri="{FF2B5EF4-FFF2-40B4-BE49-F238E27FC236}">
                <a16:creationId xmlns:a16="http://schemas.microsoft.com/office/drawing/2014/main" id="{F876455C-FAE5-A027-12D0-7F4F4F5066B7}"/>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416316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007105"/>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Mark O’Callaghan</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BOARD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Community leadership, volunteer management, sports administration, governance, relationship building, community engagement, strategic leadership, organisational support, fundraising, and a strong commitment to serving the Taupō community.</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Mark has been a valued part of the Taupō community since 1976, bringing a lifelong commitment to service, leadership, and local sport. With deep roots in farming and decades of involvement in rugby administration and volunteering, he was recognised with the New Zealand Order of Merit in 2003 for his contributions to the sport. Mark continues to support the community through his roles with Red Cross Taupō, the Lake Taupo Sports Advisory Council, and our society, where his experience and dedication continue to make a lasting impact. </a:t>
            </a:r>
          </a:p>
        </p:txBody>
      </p:sp>
      <p:pic>
        <p:nvPicPr>
          <p:cNvPr id="3" name="Picture 2" descr="A person in a blue and white checkered shirt&#10;&#10;AI-generated content may be incorrect.">
            <a:extLst>
              <a:ext uri="{FF2B5EF4-FFF2-40B4-BE49-F238E27FC236}">
                <a16:creationId xmlns:a16="http://schemas.microsoft.com/office/drawing/2014/main" id="{2245D217-BEE1-D506-4088-E26260DC1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39049"/>
            <a:ext cx="1469354" cy="1810036"/>
          </a:xfrm>
          <a:prstGeom prst="rect">
            <a:avLst/>
          </a:prstGeom>
        </p:spPr>
      </p:pic>
      <p:pic>
        <p:nvPicPr>
          <p:cNvPr id="2" name="Picture 1">
            <a:extLst>
              <a:ext uri="{FF2B5EF4-FFF2-40B4-BE49-F238E27FC236}">
                <a16:creationId xmlns:a16="http://schemas.microsoft.com/office/drawing/2014/main" id="{80C47623-E30C-C52C-B055-6B6FCA1E1D24}"/>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406316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53863" y="2627971"/>
            <a:ext cx="9103474" cy="4305922"/>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ea typeface="Aptos" panose="020B0004020202020204" pitchFamily="34" charset="0"/>
                <a:cs typeface="Times New Roman" panose="02020603050405020304" pitchFamily="18" charset="0"/>
              </a:rPr>
              <a:t>David &amp; Sandra Foss</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ea typeface="Aptos" panose="020B0004020202020204" pitchFamily="34" charset="0"/>
                <a:cs typeface="Times New Roman" panose="02020603050405020304" pitchFamily="18" charset="0"/>
              </a:rPr>
              <a:t>BOARD MEMBERS</a:t>
            </a:r>
            <a:endParaRPr lang="en-NZ" sz="18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ea typeface="Aptos" panose="020B0004020202020204" pitchFamily="34" charset="0"/>
                <a:cs typeface="Times New Roman" panose="02020603050405020304" pitchFamily="18" charset="0"/>
              </a:rPr>
              <a:t>Key Skills:</a:t>
            </a:r>
            <a:r>
              <a:rPr lang="en-NZ" sz="1400" b="1" kern="100" dirty="0">
                <a:effectLst/>
                <a:ea typeface="Aptos" panose="020B0004020202020204" pitchFamily="34" charset="0"/>
                <a:cs typeface="Times New Roman" panose="02020603050405020304" pitchFamily="18" charset="0"/>
              </a:rPr>
              <a:t> Community leadership, healthcare and wellbeing, nursing and clinical experience, volunteer coordination, community engagement, local knowledge, practical problem-solving. </a:t>
            </a:r>
            <a:endParaRPr lang="en-NZ" sz="1400" kern="100" dirty="0">
              <a:effectLst/>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David and Sandra are long-standing Taupō locals whose lives and careers have been closely connected to the wellbeing of their community. Together, they bring more than five decades of service, leadership, and volunteer experience, along with deep local knowledge, practical insight, and a shared commitment to supporting quality, equitable health services in Taupō.</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David’s background spans the boating and trucking supply industries, alongside years of community involvement through scouting, boating, and volunteer work. Sandra is a retired registered nurse with extensive experience at Taupō Hospital. She has dedicated her career to healthcare and community wellbeing, including more than 20 years supporting Ironman medical services.</a:t>
            </a:r>
          </a:p>
          <a:p>
            <a:pPr>
              <a:lnSpc>
                <a:spcPct val="115000"/>
              </a:lnSpc>
              <a:spcAft>
                <a:spcPts val="800"/>
              </a:spcAft>
            </a:pPr>
            <a:r>
              <a:rPr lang="en-NZ" sz="1400" kern="100" dirty="0">
                <a:effectLst/>
                <a:ea typeface="Aptos" panose="020B0004020202020204" pitchFamily="34" charset="0"/>
                <a:cs typeface="Times New Roman" panose="02020603050405020304" pitchFamily="18" charset="0"/>
              </a:rPr>
              <a:t>Together, they remain active contributors to the community and are united by a shared vision of a healthy, connected, and thriving Taupō.</a:t>
            </a:r>
          </a:p>
        </p:txBody>
      </p:sp>
      <p:pic>
        <p:nvPicPr>
          <p:cNvPr id="3" name="Picture 2" descr="A person and person smiling&#10;&#10;AI-generated content may be incorrect.">
            <a:extLst>
              <a:ext uri="{FF2B5EF4-FFF2-40B4-BE49-F238E27FC236}">
                <a16:creationId xmlns:a16="http://schemas.microsoft.com/office/drawing/2014/main" id="{AABB8271-2B20-487F-683B-2ED33C04D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39049"/>
            <a:ext cx="1404708" cy="2110494"/>
          </a:xfrm>
          <a:prstGeom prst="rect">
            <a:avLst/>
          </a:prstGeom>
        </p:spPr>
      </p:pic>
      <p:pic>
        <p:nvPicPr>
          <p:cNvPr id="2" name="Picture 1">
            <a:extLst>
              <a:ext uri="{FF2B5EF4-FFF2-40B4-BE49-F238E27FC236}">
                <a16:creationId xmlns:a16="http://schemas.microsoft.com/office/drawing/2014/main" id="{4B8A58BF-7C0D-DB1F-16AE-3014E7E03BF4}"/>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75836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anim calcmode="lin" valueType="num">
                                      <p:cBhvr additive="base">
                                        <p:cTn id="1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xEl>
                                              <p:pRg st="5" end="5"/>
                                            </p:txEl>
                                          </p:spTgt>
                                        </p:tgtEl>
                                        <p:attrNameLst>
                                          <p:attrName>style.visibility</p:attrName>
                                        </p:attrNameLst>
                                      </p:cBhvr>
                                      <p:to>
                                        <p:strVal val="visible"/>
                                      </p:to>
                                    </p:set>
                                    <p:anim calcmode="lin" valueType="num">
                                      <p:cBhvr additive="base">
                                        <p:cTn id="15" dur="500" fill="hold"/>
                                        <p:tgtEl>
                                          <p:spTgt spid="15">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998146"/>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John Williamson</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BOARD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Community leadership, governance, public service, strategic decision-making, stakeholder engagement, advocacy, policy development, organisational leadership, community development, arts and cultural sector knowledge, environmental awareness, infrastructure oversight, education and health sector engagement, extensive knowledge of the Taupō community.</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A proud Taupō local for more than 60 years, John has built a lifelong legacy of community leadership, governance, and public service. With more than 20 years of involvement in the Rotary Club of Taupō</a:t>
            </a:r>
            <a:r>
              <a:rPr lang="en-NZ" sz="14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and with experience across community, health, arts, and education organisations, he has contributed to a wide range of initiatives that strengthen the Taupō district. He currently serves as President of Grey Power Taupō and has held governance roles with the Taupō School of Music, Life Education Trust Central Plateau, and our Society. From 2013 to 2025, he served four terms as a Taupō District Councillor, providing leadership across the arts, environmental, infrastructure, and community portfolios. His commitment to community wellbeing also extends to organisations including the Lake Taupō Cycle Challenge, Friends of the Museum and Art Gallery, and the </a:t>
            </a:r>
            <a:r>
              <a:rPr lang="en-NZ" sz="1400" kern="100" dirty="0" err="1">
                <a:effectLst/>
                <a:latin typeface="Aptos" panose="020B0004020202020204" pitchFamily="34" charset="0"/>
                <a:ea typeface="Aptos" panose="020B0004020202020204" pitchFamily="34" charset="0"/>
                <a:cs typeface="Times New Roman" panose="02020603050405020304" pitchFamily="18" charset="0"/>
              </a:rPr>
              <a:t>Waipahihi</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 Botanical Society. </a:t>
            </a:r>
          </a:p>
        </p:txBody>
      </p:sp>
      <p:pic>
        <p:nvPicPr>
          <p:cNvPr id="3" name="Picture 2" descr="A close-up of a person&#10;&#10;AI-generated content may be incorrect.">
            <a:extLst>
              <a:ext uri="{FF2B5EF4-FFF2-40B4-BE49-F238E27FC236}">
                <a16:creationId xmlns:a16="http://schemas.microsoft.com/office/drawing/2014/main" id="{D1C0A9D2-5D6B-02C3-CB37-C7988B918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859605"/>
            <a:ext cx="1338942" cy="1712396"/>
          </a:xfrm>
          <a:prstGeom prst="rect">
            <a:avLst/>
          </a:prstGeom>
        </p:spPr>
      </p:pic>
      <p:pic>
        <p:nvPicPr>
          <p:cNvPr id="2" name="Picture 1">
            <a:extLst>
              <a:ext uri="{FF2B5EF4-FFF2-40B4-BE49-F238E27FC236}">
                <a16:creationId xmlns:a16="http://schemas.microsoft.com/office/drawing/2014/main" id="{1B77B5D2-34F3-0ECD-3FEC-38040D6443C0}"/>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35856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Your Board – </a:t>
            </a:r>
            <a:r>
              <a:rPr lang="en-NZ" sz="3200" b="1" dirty="0">
                <a:solidFill>
                  <a:schemeClr val="bg1">
                    <a:alpha val="45000"/>
                  </a:schemeClr>
                </a:solidFill>
              </a:rPr>
              <a:t>Mana </a:t>
            </a:r>
            <a:r>
              <a:rPr lang="en-NZ" sz="3200" b="1" dirty="0" err="1">
                <a:solidFill>
                  <a:schemeClr val="bg1">
                    <a:alpha val="45000"/>
                  </a:schemeClr>
                </a:solidFill>
              </a:rPr>
              <a:t>whakahaere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007105"/>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Aruna Singh</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BOARD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Community leadership, volunteer coordination, fundraising, event management, relationship building, community engagement, cross-cultural communication, partnership development, advocacy, teamwork, and a strong commitment to supporting diverse and connected communities.</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Aruna has been a valued member of the Society for several years and a respected community leader with more than 30 years of volunteer service in Taupō. As Chair and President of the Kiwanis Club of Taupō, she helps mobilise volunteers, support major local events, and lead fundraising initiatives that make a meaningful impact locally and internationally. Proud of her Tongan and Fijian Indian heritage, Aruna brings a people-first approach and a passion for building connections across cultures and communities.</a:t>
            </a:r>
          </a:p>
        </p:txBody>
      </p:sp>
      <p:pic>
        <p:nvPicPr>
          <p:cNvPr id="3" name="Picture 2" descr="A person wearing glasses and a pink shirt&#10;&#10;AI-generated content may be incorrect.">
            <a:extLst>
              <a:ext uri="{FF2B5EF4-FFF2-40B4-BE49-F238E27FC236}">
                <a16:creationId xmlns:a16="http://schemas.microsoft.com/office/drawing/2014/main" id="{8C83913B-0AA1-FB80-78AA-CD1FA8A64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3" y="2748318"/>
            <a:ext cx="1479283" cy="1828121"/>
          </a:xfrm>
          <a:prstGeom prst="rect">
            <a:avLst/>
          </a:prstGeom>
        </p:spPr>
      </p:pic>
      <p:pic>
        <p:nvPicPr>
          <p:cNvPr id="2" name="Picture 1">
            <a:extLst>
              <a:ext uri="{FF2B5EF4-FFF2-40B4-BE49-F238E27FC236}">
                <a16:creationId xmlns:a16="http://schemas.microsoft.com/office/drawing/2014/main" id="{817E90DB-1A99-4D6B-A8BC-90C2F3BEEBD7}"/>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91556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Our Patron – </a:t>
            </a:r>
            <a:r>
              <a:rPr lang="en-NZ" sz="3200" b="1" dirty="0" err="1">
                <a:solidFill>
                  <a:schemeClr val="bg1">
                    <a:alpha val="45000"/>
                  </a:schemeClr>
                </a:solidFill>
              </a:rPr>
              <a:t>Kaitautoko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4236801"/>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LAURIE BURDETT</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PATRON</a:t>
            </a:r>
            <a:endParaRPr lang="en-NZ" sz="1800"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Health Governance, Strategic Leadership, Public Sector Governance, Community Leadership, Risk &amp; Decision-Making, Regional Governance, Stakeholder Engagement, Conservation Governance.</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Laurie has served as Patroness of the Society since 2017, bringing decades of leadership across healthcare, governance, conservation, and community service. A registered nurse and midwife, she held senior clinical and management roles at Taupō Hospital for 23 years, including Charge Nurse, Principal Nurse, and Manager, before moving into regional health leadership with the Regional Health Funding Authority.</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Her extensive governance experience includes elected service on both the Hospital Board and Waikato Regional Council, along with appointments to the Tongariro Taupō Conservation Board and Regional Lottery Welfare Committee. Lauri also served with distinction in the Territorial Army, retiring with the rank of Major after overseas deployments in Tonga and the Solomon Islands.</a:t>
            </a:r>
          </a:p>
          <a:p>
            <a:pPr>
              <a:lnSpc>
                <a:spcPct val="115000"/>
              </a:lnSpc>
              <a:spcAft>
                <a:spcPts val="800"/>
              </a:spcAft>
            </a:pPr>
            <a:endParaRPr lang="en-NZ" sz="1200" kern="0" dirty="0">
              <a:solidFill>
                <a:srgbClr val="000000"/>
              </a:solidFill>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1" name="Picture 10" descr="A close-up of a person&#10;&#10;AI-generated content may be incorrect.">
            <a:extLst>
              <a:ext uri="{FF2B5EF4-FFF2-40B4-BE49-F238E27FC236}">
                <a16:creationId xmlns:a16="http://schemas.microsoft.com/office/drawing/2014/main" id="{18CA8572-F28D-2747-CF07-B1497A9D1D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825" y="2701331"/>
            <a:ext cx="1416292" cy="1769734"/>
          </a:xfrm>
          <a:prstGeom prst="rect">
            <a:avLst/>
          </a:prstGeom>
        </p:spPr>
      </p:pic>
      <p:pic>
        <p:nvPicPr>
          <p:cNvPr id="2" name="Picture 1">
            <a:extLst>
              <a:ext uri="{FF2B5EF4-FFF2-40B4-BE49-F238E27FC236}">
                <a16:creationId xmlns:a16="http://schemas.microsoft.com/office/drawing/2014/main" id="{D411839C-FF3C-6DC5-C4ED-8F884519637B}"/>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74791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anim calcmode="lin" valueType="num">
                                      <p:cBhvr additive="base">
                                        <p:cTn id="11"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 RETIRED Patron – </a:t>
            </a:r>
            <a:r>
              <a:rPr lang="en-NZ" sz="3200" b="1" dirty="0" err="1">
                <a:solidFill>
                  <a:schemeClr val="bg1">
                    <a:alpha val="45000"/>
                  </a:schemeClr>
                </a:solidFill>
              </a:rPr>
              <a:t>Kaitautoko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4445576"/>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LES WINSLADE</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rPr>
              <a:t>RETIRED PATRON</a:t>
            </a:r>
            <a:endParaRPr lang="en-NZ" sz="1800" kern="100" dirty="0">
              <a:solidFill>
                <a:schemeClr val="accent6"/>
              </a:solidFill>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Leslie ‘Les’ </a:t>
            </a:r>
            <a:r>
              <a:rPr lang="en-NZ" sz="1400" kern="100" dirty="0" err="1">
                <a:effectLst/>
                <a:latin typeface="Aptos" panose="020B0004020202020204" pitchFamily="34" charset="0"/>
                <a:ea typeface="Aptos" panose="020B0004020202020204" pitchFamily="34" charset="0"/>
                <a:cs typeface="Times New Roman" panose="02020603050405020304" pitchFamily="18" charset="0"/>
              </a:rPr>
              <a:t>Winslade</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 QSM celebrated his 105th birthday surrounded by family, friends and memories of a remarkable life of service.</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Born in England, Les migrated to New Zealand in 1926. He served as an RNZAF wireless operator during the Second World War, including time in Guadalcanal, before building a long career with National Mutual.</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Community service has been central to Les’ life. After moving to Taupō in 1983, he became involved with Lions, established the local Neighbourhood Watch and raised more than $2 million for health and medical improvements across the Taupō and </a:t>
            </a:r>
            <a:r>
              <a:rPr lang="en-NZ" sz="1400" kern="100" dirty="0" err="1">
                <a:effectLst/>
                <a:latin typeface="Aptos" panose="020B0004020202020204" pitchFamily="34" charset="0"/>
                <a:ea typeface="Aptos" panose="020B0004020202020204" pitchFamily="34" charset="0"/>
                <a:cs typeface="Times New Roman" panose="02020603050405020304" pitchFamily="18" charset="0"/>
              </a:rPr>
              <a:t>Tūrangi</a:t>
            </a:r>
            <a:r>
              <a:rPr lang="en-NZ" sz="1400" kern="100" dirty="0">
                <a:effectLst/>
                <a:latin typeface="Aptos" panose="020B0004020202020204" pitchFamily="34" charset="0"/>
                <a:ea typeface="Aptos" panose="020B0004020202020204" pitchFamily="34" charset="0"/>
                <a:cs typeface="Times New Roman" panose="02020603050405020304" pitchFamily="18" charset="0"/>
              </a:rPr>
              <a:t> districts. He also strongly advocated for geothermal heating at Taupō Hospital.</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Les received the Queen’s Service Medal in 2009 and has been recognised with both Rotary International’s Paul Harris Award and Lions International’s Melvin Jones Fellowship—a rare achievement. Believed to be the region’s oldest surviving veteran, Les remains an inspiring example of service, generosity and commitment to his community</a:t>
            </a:r>
          </a:p>
          <a:p>
            <a:pPr>
              <a:lnSpc>
                <a:spcPct val="115000"/>
              </a:lnSpc>
              <a:spcAft>
                <a:spcPts val="800"/>
              </a:spcAft>
            </a:pPr>
            <a:r>
              <a:rPr lang="en-NZ"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ECDA3E6D-7D2C-3235-3244-2DE97080AD4B}"/>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5" name="Picture 4" descr="An old person wearing glasses and a hat&#10;&#10;AI-generated content may be incorrect.">
            <a:extLst>
              <a:ext uri="{FF2B5EF4-FFF2-40B4-BE49-F238E27FC236}">
                <a16:creationId xmlns:a16="http://schemas.microsoft.com/office/drawing/2014/main" id="{C2D95436-103A-BC2A-284C-701A80169B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825" y="2777539"/>
            <a:ext cx="1294076" cy="1596497"/>
          </a:xfrm>
          <a:prstGeom prst="rect">
            <a:avLst/>
          </a:prstGeom>
        </p:spPr>
      </p:pic>
    </p:spTree>
    <p:extLst>
      <p:ext uri="{BB962C8B-B14F-4D97-AF65-F5344CB8AC3E}">
        <p14:creationId xmlns:p14="http://schemas.microsoft.com/office/powerpoint/2010/main" val="2891885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Associate member– </a:t>
            </a:r>
            <a:r>
              <a:rPr lang="en-NZ" sz="3200" b="1" dirty="0">
                <a:solidFill>
                  <a:schemeClr val="bg1">
                    <a:alpha val="45000"/>
                  </a:schemeClr>
                </a:solidFill>
              </a:rPr>
              <a:t>Mema </a:t>
            </a:r>
            <a:r>
              <a:rPr lang="en-NZ" sz="3200" b="1" dirty="0" err="1">
                <a:solidFill>
                  <a:schemeClr val="bg1">
                    <a:alpha val="45000"/>
                  </a:schemeClr>
                </a:solidFill>
              </a:rPr>
              <a:t>hono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98914" y="2657194"/>
            <a:ext cx="9568542" cy="3819251"/>
          </a:xfrm>
          <a:prstGeom prst="rect">
            <a:avLst/>
          </a:prstGeom>
          <a:noFill/>
        </p:spPr>
        <p:txBody>
          <a:bodyPr wrap="square" rtlCol="0">
            <a:spAutoFit/>
          </a:bodyPr>
          <a:lstStyle/>
          <a:p>
            <a:pPr>
              <a:lnSpc>
                <a:spcPct val="115000"/>
              </a:lnSpc>
              <a:spcAft>
                <a:spcPts val="800"/>
              </a:spcAft>
            </a:pPr>
            <a:r>
              <a:rPr lang="en-NZ" sz="1800" b="1"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KATHRYN UVHAGEN</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ASSOCIATE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400" b="1" kern="100" dirty="0">
                <a:effectLst/>
                <a:latin typeface="Aptos" panose="020B0004020202020204" pitchFamily="34" charset="0"/>
                <a:ea typeface="Aptos" panose="020B0004020202020204" pitchFamily="34" charset="0"/>
                <a:cs typeface="Times New Roman" panose="02020603050405020304" pitchFamily="18" charset="0"/>
              </a:rPr>
              <a:t>– </a:t>
            </a:r>
            <a:r>
              <a:rPr lang="en-NZ" sz="1400" b="1" dirty="0"/>
              <a:t>strong skills in governance, strategic leadership, public-sector management, community engagement, environmental stewardship, and local-government decision-making. Her experience also demonstrates strengths in relationship building, teamwork, communication, event facilitation, resource recovery initiatives, arts advocacy, and supporting positive outcomes for the Taupō community.</a:t>
            </a:r>
            <a:endParaRPr lang="en-NZ" sz="14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dirty="0"/>
              <a:t>Kathryn is a respected Taupō community leader with extensive experience in local government, public service, and community development. A former Taupō District Councillor, she served the district for multiple terms and contributed to environmental, resource recovery, arts, and community initiatives. Kathryn has also served on the Tongariro/Taupō Conservation Board and supported local arts organisations, memorial scholarships, and community events. In her professional role as a Team Leader with Stats NZ, she brings strong leadership, organisational expertise, and a commitment to serving people and communities.</a:t>
            </a:r>
            <a:endParaRPr lang="en-NZ" sz="14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descr="A person wearing a pearl necklace&#10;&#10;AI-generated content may be incorrect.">
            <a:extLst>
              <a:ext uri="{FF2B5EF4-FFF2-40B4-BE49-F238E27FC236}">
                <a16:creationId xmlns:a16="http://schemas.microsoft.com/office/drawing/2014/main" id="{C6FED1D1-6A63-02AA-5DB4-DABAA63D3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44" y="2701331"/>
            <a:ext cx="1582552" cy="1885565"/>
          </a:xfrm>
          <a:prstGeom prst="rect">
            <a:avLst/>
          </a:prstGeom>
        </p:spPr>
      </p:pic>
      <p:pic>
        <p:nvPicPr>
          <p:cNvPr id="2" name="Picture 1">
            <a:extLst>
              <a:ext uri="{FF2B5EF4-FFF2-40B4-BE49-F238E27FC236}">
                <a16:creationId xmlns:a16="http://schemas.microsoft.com/office/drawing/2014/main" id="{07050EF6-36EE-329E-07B1-E962C6A6DAEF}"/>
              </a:ext>
            </a:extLst>
          </p:cNvPr>
          <p:cNvPicPr>
            <a:picLocks noChangeAspect="1"/>
          </p:cNvPicPr>
          <p:nvPr/>
        </p:nvPicPr>
        <p:blipFill>
          <a:blip r:embed="rId4"/>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149694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3" end="3"/>
                                            </p:txEl>
                                          </p:spTgt>
                                        </p:tgtEl>
                                        <p:attrNameLst>
                                          <p:attrName>style.visibility</p:attrName>
                                        </p:attrNameLst>
                                      </p:cBhvr>
                                      <p:to>
                                        <p:strVal val="visible"/>
                                      </p:to>
                                    </p:set>
                                    <p:anim calcmode="lin" valueType="num">
                                      <p:cBhvr additive="base">
                                        <p:cTn id="7"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Associate member– </a:t>
            </a:r>
            <a:r>
              <a:rPr lang="en-NZ" sz="3200" b="1" dirty="0">
                <a:solidFill>
                  <a:schemeClr val="bg1">
                    <a:alpha val="45000"/>
                  </a:schemeClr>
                </a:solidFill>
              </a:rPr>
              <a:t>Mema </a:t>
            </a:r>
            <a:r>
              <a:rPr lang="en-NZ" sz="3200" b="1" dirty="0" err="1">
                <a:solidFill>
                  <a:schemeClr val="bg1">
                    <a:alpha val="45000"/>
                  </a:schemeClr>
                </a:solidFill>
              </a:rPr>
              <a:t>hono</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427513" y="294690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2100943" y="2657194"/>
            <a:ext cx="9666513" cy="4166012"/>
          </a:xfrm>
          <a:prstGeom prst="rect">
            <a:avLst/>
          </a:prstGeom>
          <a:noFill/>
        </p:spPr>
        <p:txBody>
          <a:bodyPr wrap="square" rtlCol="0">
            <a:spAutoFit/>
          </a:bodyPr>
          <a:lstStyle/>
          <a:p>
            <a:pPr>
              <a:lnSpc>
                <a:spcPct val="115000"/>
              </a:lnSpc>
              <a:spcAft>
                <a:spcPts val="800"/>
              </a:spcAft>
            </a:pPr>
            <a:r>
              <a:rPr lang="en-NZ" sz="1800" kern="100" dirty="0">
                <a:solidFill>
                  <a:srgbClr val="E97132"/>
                </a:solidFill>
                <a:effectLst/>
                <a:latin typeface="Aptos" panose="020B0004020202020204" pitchFamily="34" charset="0"/>
                <a:ea typeface="Aptos" panose="020B0004020202020204" pitchFamily="34" charset="0"/>
                <a:cs typeface="Times New Roman" panose="02020603050405020304" pitchFamily="18" charset="0"/>
              </a:rPr>
              <a:t>Rhonda Tawhai</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kern="100" dirty="0">
                <a:effectLst/>
                <a:latin typeface="Aptos" panose="020B0004020202020204" pitchFamily="34" charset="0"/>
                <a:ea typeface="Aptos" panose="020B0004020202020204" pitchFamily="34" charset="0"/>
                <a:cs typeface="Times New Roman" panose="02020603050405020304" pitchFamily="18" charset="0"/>
              </a:rPr>
              <a:t>ASSOCIATE MEMBER</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800" b="1" u="sng" kern="100" dirty="0">
                <a:effectLst/>
                <a:latin typeface="Aptos" panose="020B0004020202020204" pitchFamily="34" charset="0"/>
                <a:ea typeface="Aptos" panose="020B0004020202020204" pitchFamily="34" charset="0"/>
                <a:cs typeface="Times New Roman" panose="02020603050405020304" pitchFamily="18" charset="0"/>
              </a:rPr>
              <a:t>Key Skills:</a:t>
            </a:r>
            <a:r>
              <a:rPr lang="en-NZ" sz="1800" b="1" kern="100" dirty="0">
                <a:effectLst/>
                <a:latin typeface="Aptos" panose="020B0004020202020204" pitchFamily="34" charset="0"/>
                <a:ea typeface="Aptos" panose="020B0004020202020204" pitchFamily="34" charset="0"/>
                <a:cs typeface="Times New Roman" panose="02020603050405020304" pitchFamily="18" charset="0"/>
              </a:rPr>
              <a:t>– Administration, Board Support, Minute-Taking, Community Service, Mirimiri.  Waka Ama.</a:t>
            </a:r>
            <a:endParaRPr lang="en-NZ"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After many years of travelling, Rhonda has returned home, bringing with her a wealth of knowledge, experience and practical skills. A true jack of all trades, she has experience in administration, minute-taking, board coordination, massage and mirimiri.</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Rhonda has generously volunteered her time and skills to numerous organisations, assisting with administration, organising board activities and providing reliable support wherever it is needed.</a:t>
            </a:r>
          </a:p>
          <a:p>
            <a:pPr>
              <a:lnSpc>
                <a:spcPct val="115000"/>
              </a:lnSpc>
              <a:spcAft>
                <a:spcPts val="800"/>
              </a:spcAft>
            </a:pPr>
            <a:r>
              <a:rPr lang="en-NZ" sz="1400" kern="100" dirty="0">
                <a:effectLst/>
                <a:latin typeface="Aptos" panose="020B0004020202020204" pitchFamily="34" charset="0"/>
                <a:ea typeface="Aptos" panose="020B0004020202020204" pitchFamily="34" charset="0"/>
                <a:cs typeface="Times New Roman" panose="02020603050405020304" pitchFamily="18" charset="0"/>
              </a:rPr>
              <a:t>Her greatest passion is waka ama. Rhonda has contributed to Waka Ama New Zealand for many years, undertaking a variety of roles and competing as a paddler. Her versatility, dedication and strong commitment to her community make her a valued addition to any organisation fortunate enough to have her support.</a:t>
            </a:r>
          </a:p>
          <a:p>
            <a:pPr>
              <a:lnSpc>
                <a:spcPct val="115000"/>
              </a:lnSpc>
              <a:spcAft>
                <a:spcPts val="800"/>
              </a:spcAft>
            </a:pPr>
            <a:endParaRPr lang="en-NZ" sz="12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DF80E075-47C0-A83E-0583-EF8C150DB9A9}"/>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5" name="Picture 4" descr="A person smiling at the camera&#10;&#10;AI-generated content may be incorrect.">
            <a:extLst>
              <a:ext uri="{FF2B5EF4-FFF2-40B4-BE49-F238E27FC236}">
                <a16:creationId xmlns:a16="http://schemas.microsoft.com/office/drawing/2014/main" id="{BA6E19C2-3D24-98B5-6B14-9736128487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558" y="2777540"/>
            <a:ext cx="1533100" cy="1533100"/>
          </a:xfrm>
          <a:prstGeom prst="rect">
            <a:avLst/>
          </a:prstGeom>
        </p:spPr>
      </p:pic>
    </p:spTree>
    <p:extLst>
      <p:ext uri="{BB962C8B-B14F-4D97-AF65-F5344CB8AC3E}">
        <p14:creationId xmlns:p14="http://schemas.microsoft.com/office/powerpoint/2010/main" val="2816925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08422" y="1619846"/>
            <a:ext cx="11709008" cy="999630"/>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87825" y="1657564"/>
            <a:ext cx="11503357" cy="584775"/>
          </a:xfrm>
          <a:prstGeom prst="rect">
            <a:avLst/>
          </a:prstGeom>
          <a:noFill/>
        </p:spPr>
        <p:txBody>
          <a:bodyPr wrap="square" rtlCol="0">
            <a:spAutoFit/>
          </a:bodyPr>
          <a:lstStyle/>
          <a:p>
            <a:pPr algn="ctr"/>
            <a:r>
              <a:rPr lang="en-NZ" sz="3200" b="1" dirty="0">
                <a:solidFill>
                  <a:schemeClr val="bg1"/>
                </a:solidFill>
              </a:rPr>
              <a:t>Rules– </a:t>
            </a:r>
            <a:r>
              <a:rPr lang="en-NZ" sz="3200" b="1" dirty="0" err="1">
                <a:solidFill>
                  <a:schemeClr val="bg1">
                    <a:alpha val="45000"/>
                  </a:schemeClr>
                </a:solidFill>
              </a:rPr>
              <a:t>Ngā</a:t>
            </a:r>
            <a:r>
              <a:rPr lang="en-NZ" sz="3200" b="1" dirty="0">
                <a:solidFill>
                  <a:schemeClr val="bg1">
                    <a:alpha val="45000"/>
                  </a:schemeClr>
                </a:solidFill>
              </a:rPr>
              <a:t> </a:t>
            </a:r>
            <a:r>
              <a:rPr lang="en-NZ" sz="3200" b="1" dirty="0" err="1">
                <a:solidFill>
                  <a:schemeClr val="bg1">
                    <a:alpha val="45000"/>
                  </a:schemeClr>
                </a:solidFill>
              </a:rPr>
              <a:t>ture</a:t>
            </a:r>
            <a:endParaRPr lang="en-NZ" sz="3200" b="1" dirty="0">
              <a:solidFill>
                <a:schemeClr val="bg1">
                  <a:alpha val="45000"/>
                </a:schemeClr>
              </a:solidFill>
            </a:endParaRPr>
          </a:p>
        </p:txBody>
      </p:sp>
      <p:sp>
        <p:nvSpPr>
          <p:cNvPr id="9" name="TextBox 8">
            <a:extLst>
              <a:ext uri="{FF2B5EF4-FFF2-40B4-BE49-F238E27FC236}">
                <a16:creationId xmlns:a16="http://schemas.microsoft.com/office/drawing/2014/main" id="{0734BBE3-699D-B1DD-E215-CAC4A81102B2}"/>
              </a:ext>
            </a:extLst>
          </p:cNvPr>
          <p:cNvSpPr txBox="1"/>
          <p:nvPr/>
        </p:nvSpPr>
        <p:spPr>
          <a:xfrm>
            <a:off x="2520703" y="651977"/>
            <a:ext cx="9339943" cy="2011174"/>
          </a:xfrm>
          <a:prstGeom prst="rect">
            <a:avLst/>
          </a:prstGeom>
          <a:noFill/>
        </p:spPr>
        <p:txBody>
          <a:bodyPr wrap="square" rtlCol="0">
            <a:spAutoFit/>
          </a:bodyPr>
          <a:lstStyle/>
          <a:p>
            <a:endParaRPr lang="en-NZ" dirty="0"/>
          </a:p>
        </p:txBody>
      </p:sp>
      <p:sp>
        <p:nvSpPr>
          <p:cNvPr id="15" name="TextBox 14">
            <a:extLst>
              <a:ext uri="{FF2B5EF4-FFF2-40B4-BE49-F238E27FC236}">
                <a16:creationId xmlns:a16="http://schemas.microsoft.com/office/drawing/2014/main" id="{03AD3764-C8C1-4196-6AD3-7F098771A902}"/>
              </a:ext>
            </a:extLst>
          </p:cNvPr>
          <p:cNvSpPr txBox="1"/>
          <p:nvPr/>
        </p:nvSpPr>
        <p:spPr>
          <a:xfrm>
            <a:off x="8026921" y="2737309"/>
            <a:ext cx="3132363" cy="715324"/>
          </a:xfrm>
          <a:prstGeom prst="rect">
            <a:avLst/>
          </a:prstGeom>
          <a:solidFill>
            <a:schemeClr val="bg1"/>
          </a:solidFill>
          <a:ln>
            <a:solidFill>
              <a:srgbClr val="92D050"/>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15000"/>
              </a:lnSpc>
              <a:spcAft>
                <a:spcPts val="800"/>
              </a:spcAft>
            </a:pPr>
            <a:r>
              <a:rPr lang="en-NZ" sz="1800" b="1"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INCORPORATED SOCIETY</a:t>
            </a:r>
          </a:p>
          <a:p>
            <a:pPr>
              <a:lnSpc>
                <a:spcPct val="115000"/>
              </a:lnSpc>
              <a:spcAft>
                <a:spcPts val="800"/>
              </a:spcAft>
            </a:pPr>
            <a:endParaRPr lang="en-NZ" sz="1200" kern="100" dirty="0">
              <a:solidFill>
                <a:schemeClr val="bg1">
                  <a:lumMod val="95000"/>
                </a:schemeClr>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DF80E075-47C0-A83E-0583-EF8C150DB9A9}"/>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8" name="Picture 7" descr="A group of paper people holding hands&#10;&#10;AI-generated content may be incorrect.">
            <a:extLst>
              <a:ext uri="{FF2B5EF4-FFF2-40B4-BE49-F238E27FC236}">
                <a16:creationId xmlns:a16="http://schemas.microsoft.com/office/drawing/2014/main" id="{6A321A30-5389-26AB-1A9C-282623BCD79F}"/>
              </a:ext>
            </a:extLst>
          </p:cNvPr>
          <p:cNvPicPr>
            <a:picLocks noChangeAspect="1"/>
          </p:cNvPicPr>
          <p:nvPr/>
        </p:nvPicPr>
        <p:blipFill>
          <a:blip r:embed="rId4">
            <a:alphaModFix amt="61000"/>
            <a:extLst>
              <a:ext uri="{28A0092B-C50C-407E-A947-70E740481C1C}">
                <a14:useLocalDpi xmlns:a14="http://schemas.microsoft.com/office/drawing/2010/main" val="0"/>
              </a:ext>
            </a:extLst>
          </a:blip>
          <a:stretch>
            <a:fillRect/>
          </a:stretch>
        </p:blipFill>
        <p:spPr>
          <a:xfrm>
            <a:off x="241497" y="2700869"/>
            <a:ext cx="7506840" cy="4002222"/>
          </a:xfrm>
          <a:prstGeom prst="rect">
            <a:avLst/>
          </a:prstGeom>
        </p:spPr>
      </p:pic>
      <p:pic>
        <p:nvPicPr>
          <p:cNvPr id="14" name="Picture 13" descr="A close-up of a computer screen&#10;&#10;AI-generated content may be incorrect.">
            <a:extLst>
              <a:ext uri="{FF2B5EF4-FFF2-40B4-BE49-F238E27FC236}">
                <a16:creationId xmlns:a16="http://schemas.microsoft.com/office/drawing/2014/main" id="{D24E31CC-E433-CEE0-2966-D7D2EA7FA9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0331" y="3550217"/>
            <a:ext cx="825542" cy="1282766"/>
          </a:xfrm>
          <a:prstGeom prst="rect">
            <a:avLst/>
          </a:prstGeom>
        </p:spPr>
      </p:pic>
      <p:sp>
        <p:nvSpPr>
          <p:cNvPr id="3" name="TextBox 2">
            <a:extLst>
              <a:ext uri="{FF2B5EF4-FFF2-40B4-BE49-F238E27FC236}">
                <a16:creationId xmlns:a16="http://schemas.microsoft.com/office/drawing/2014/main" id="{3A2F32E8-EDB1-EA44-7ED2-817C92A46DBA}"/>
              </a:ext>
            </a:extLst>
          </p:cNvPr>
          <p:cNvSpPr txBox="1"/>
          <p:nvPr/>
        </p:nvSpPr>
        <p:spPr>
          <a:xfrm>
            <a:off x="7229430" y="6094478"/>
            <a:ext cx="5208607" cy="646331"/>
          </a:xfrm>
          <a:prstGeom prst="rect">
            <a:avLst/>
          </a:prstGeom>
          <a:noFill/>
        </p:spPr>
        <p:txBody>
          <a:bodyPr wrap="square" rtlCol="0">
            <a:spAutoFit/>
          </a:bodyPr>
          <a:lstStyle/>
          <a:p>
            <a:r>
              <a:rPr lang="en-NZ" b="1" dirty="0">
                <a:highlight>
                  <a:srgbClr val="FFFF00"/>
                </a:highlight>
              </a:rPr>
              <a:t>Ash to link the rules to click on and link to constitution – not a download</a:t>
            </a:r>
          </a:p>
        </p:txBody>
      </p:sp>
    </p:spTree>
    <p:extLst>
      <p:ext uri="{BB962C8B-B14F-4D97-AF65-F5344CB8AC3E}">
        <p14:creationId xmlns:p14="http://schemas.microsoft.com/office/powerpoint/2010/main" val="141147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100818" y="3248150"/>
            <a:ext cx="4826845" cy="3416320"/>
          </a:xfrm>
          <a:prstGeom prst="rect">
            <a:avLst/>
          </a:prstGeom>
          <a:noFill/>
        </p:spPr>
        <p:txBody>
          <a:bodyPr wrap="square" rtlCol="0">
            <a:spAutoFit/>
          </a:bodyPr>
          <a:lstStyle/>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sp>
        <p:nvSpPr>
          <p:cNvPr id="2" name="TextBox 1">
            <a:extLst>
              <a:ext uri="{FF2B5EF4-FFF2-40B4-BE49-F238E27FC236}">
                <a16:creationId xmlns:a16="http://schemas.microsoft.com/office/drawing/2014/main" id="{A144B2E2-EC92-E54D-5054-E912D65C6D67}"/>
              </a:ext>
            </a:extLst>
          </p:cNvPr>
          <p:cNvSpPr txBox="1"/>
          <p:nvPr/>
        </p:nvSpPr>
        <p:spPr>
          <a:xfrm>
            <a:off x="156560" y="3367835"/>
            <a:ext cx="2030425" cy="369332"/>
          </a:xfrm>
          <a:prstGeom prst="rect">
            <a:avLst/>
          </a:prstGeom>
          <a:noFill/>
        </p:spPr>
        <p:txBody>
          <a:bodyPr wrap="square" rtlCol="0">
            <a:spAutoFit/>
          </a:bodyPr>
          <a:lstStyle/>
          <a:p>
            <a:r>
              <a:rPr lang="en-NZ" b="1" dirty="0">
                <a:solidFill>
                  <a:schemeClr val="tx2">
                    <a:lumMod val="75000"/>
                    <a:lumOff val="25000"/>
                  </a:schemeClr>
                </a:solidFill>
              </a:rPr>
              <a:t>LATEST NEWS</a:t>
            </a:r>
          </a:p>
        </p:txBody>
      </p:sp>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6" name="Picture 5">
            <a:extLst>
              <a:ext uri="{FF2B5EF4-FFF2-40B4-BE49-F238E27FC236}">
                <a16:creationId xmlns:a16="http://schemas.microsoft.com/office/drawing/2014/main" id="{35EF4697-BC54-B4AF-E903-7B76BE89DCF4}"/>
              </a:ext>
            </a:extLst>
          </p:cNvPr>
          <p:cNvPicPr>
            <a:picLocks noChangeAspect="1"/>
          </p:cNvPicPr>
          <p:nvPr/>
        </p:nvPicPr>
        <p:blipFill>
          <a:blip r:embed="rId4"/>
          <a:stretch>
            <a:fillRect/>
          </a:stretch>
        </p:blipFill>
        <p:spPr>
          <a:xfrm>
            <a:off x="1728444" y="3302504"/>
            <a:ext cx="8772718" cy="3555495"/>
          </a:xfrm>
          <a:prstGeom prst="rect">
            <a:avLst/>
          </a:prstGeom>
        </p:spPr>
      </p:pic>
    </p:spTree>
    <p:extLst>
      <p:ext uri="{BB962C8B-B14F-4D97-AF65-F5344CB8AC3E}">
        <p14:creationId xmlns:p14="http://schemas.microsoft.com/office/powerpoint/2010/main" val="1069158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100818" y="3248150"/>
            <a:ext cx="4826845" cy="3416320"/>
          </a:xfrm>
          <a:prstGeom prst="rect">
            <a:avLst/>
          </a:prstGeom>
          <a:noFill/>
        </p:spPr>
        <p:txBody>
          <a:bodyPr wrap="square" rtlCol="0">
            <a:spAutoFit/>
          </a:bodyPr>
          <a:lstStyle/>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sp>
        <p:nvSpPr>
          <p:cNvPr id="2" name="TextBox 1">
            <a:extLst>
              <a:ext uri="{FF2B5EF4-FFF2-40B4-BE49-F238E27FC236}">
                <a16:creationId xmlns:a16="http://schemas.microsoft.com/office/drawing/2014/main" id="{A144B2E2-EC92-E54D-5054-E912D65C6D67}"/>
              </a:ext>
            </a:extLst>
          </p:cNvPr>
          <p:cNvSpPr txBox="1"/>
          <p:nvPr/>
        </p:nvSpPr>
        <p:spPr>
          <a:xfrm>
            <a:off x="156560" y="3367835"/>
            <a:ext cx="2030425" cy="369332"/>
          </a:xfrm>
          <a:prstGeom prst="rect">
            <a:avLst/>
          </a:prstGeom>
          <a:noFill/>
        </p:spPr>
        <p:txBody>
          <a:bodyPr wrap="square" rtlCol="0">
            <a:spAutoFit/>
          </a:bodyPr>
          <a:lstStyle/>
          <a:p>
            <a:r>
              <a:rPr lang="en-NZ" b="1" dirty="0">
                <a:solidFill>
                  <a:schemeClr val="tx2">
                    <a:lumMod val="75000"/>
                    <a:lumOff val="25000"/>
                  </a:schemeClr>
                </a:solidFill>
              </a:rPr>
              <a:t>ARCHIVE NEWS</a:t>
            </a:r>
          </a:p>
        </p:txBody>
      </p:sp>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6" name="Picture 5">
            <a:extLst>
              <a:ext uri="{FF2B5EF4-FFF2-40B4-BE49-F238E27FC236}">
                <a16:creationId xmlns:a16="http://schemas.microsoft.com/office/drawing/2014/main" id="{35EF4697-BC54-B4AF-E903-7B76BE89DCF4}"/>
              </a:ext>
            </a:extLst>
          </p:cNvPr>
          <p:cNvPicPr>
            <a:picLocks noChangeAspect="1"/>
          </p:cNvPicPr>
          <p:nvPr/>
        </p:nvPicPr>
        <p:blipFill>
          <a:blip r:embed="rId4"/>
          <a:stretch>
            <a:fillRect/>
          </a:stretch>
        </p:blipFill>
        <p:spPr>
          <a:xfrm>
            <a:off x="2069133" y="3248150"/>
            <a:ext cx="8855542" cy="3609850"/>
          </a:xfrm>
          <a:prstGeom prst="rect">
            <a:avLst/>
          </a:prstGeom>
        </p:spPr>
      </p:pic>
    </p:spTree>
    <p:extLst>
      <p:ext uri="{BB962C8B-B14F-4D97-AF65-F5344CB8AC3E}">
        <p14:creationId xmlns:p14="http://schemas.microsoft.com/office/powerpoint/2010/main" val="4027587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18040"/>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4346116" y="3164681"/>
            <a:ext cx="4826845" cy="3693319"/>
          </a:xfrm>
          <a:prstGeom prst="rect">
            <a:avLst/>
          </a:prstGeom>
          <a:noFill/>
        </p:spPr>
        <p:txBody>
          <a:bodyPr wrap="square" rtlCol="0">
            <a:spAutoFit/>
          </a:bodyPr>
          <a:lstStyle/>
          <a:p>
            <a:pPr algn="l"/>
            <a:r>
              <a:rPr lang="en-NZ" b="1" dirty="0"/>
              <a:t>ANNUAL REPORTS</a:t>
            </a:r>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pic>
        <p:nvPicPr>
          <p:cNvPr id="3" name="Picture 2" descr="A black and white graphic of a paper with a graph&#10;&#10;AI-generated content may be incorrect.">
            <a:extLst>
              <a:ext uri="{FF2B5EF4-FFF2-40B4-BE49-F238E27FC236}">
                <a16:creationId xmlns:a16="http://schemas.microsoft.com/office/drawing/2014/main" id="{0CC319CB-2A8C-E1D5-F171-A753F08E4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519" y="4365804"/>
            <a:ext cx="944583" cy="1271305"/>
          </a:xfrm>
          <a:prstGeom prst="rect">
            <a:avLst/>
          </a:prstGeom>
        </p:spPr>
      </p:pic>
      <p:pic>
        <p:nvPicPr>
          <p:cNvPr id="9" name="Picture 8" descr="A black and white graph on a paper&#10;&#10;AI-generated content may be incorrect.">
            <a:extLst>
              <a:ext uri="{FF2B5EF4-FFF2-40B4-BE49-F238E27FC236}">
                <a16:creationId xmlns:a16="http://schemas.microsoft.com/office/drawing/2014/main" id="{1C4FF874-3E28-0611-2AC1-0964625AAE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3101" y="4441657"/>
            <a:ext cx="815111" cy="1061489"/>
          </a:xfrm>
          <a:prstGeom prst="rect">
            <a:avLst/>
          </a:prstGeom>
        </p:spPr>
      </p:pic>
      <p:pic>
        <p:nvPicPr>
          <p:cNvPr id="12" name="Picture 11" descr="A graph on a paper&#10;&#10;AI-generated content may be incorrect.">
            <a:extLst>
              <a:ext uri="{FF2B5EF4-FFF2-40B4-BE49-F238E27FC236}">
                <a16:creationId xmlns:a16="http://schemas.microsoft.com/office/drawing/2014/main" id="{C76C58F1-9A12-CC9A-1E95-7BD09E54D7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3109" y="4354607"/>
            <a:ext cx="777035" cy="1200330"/>
          </a:xfrm>
          <a:prstGeom prst="rect">
            <a:avLst/>
          </a:prstGeom>
        </p:spPr>
      </p:pic>
      <p:pic>
        <p:nvPicPr>
          <p:cNvPr id="15" name="Picture 14" descr="A graph on a paper&#10;&#10;AI-generated content may be incorrect.">
            <a:extLst>
              <a:ext uri="{FF2B5EF4-FFF2-40B4-BE49-F238E27FC236}">
                <a16:creationId xmlns:a16="http://schemas.microsoft.com/office/drawing/2014/main" id="{1EC269B9-7C84-457D-05A9-C0BC98C7C5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75040" y="4254024"/>
            <a:ext cx="788830" cy="1282932"/>
          </a:xfrm>
          <a:prstGeom prst="rect">
            <a:avLst/>
          </a:prstGeom>
        </p:spPr>
      </p:pic>
      <p:pic>
        <p:nvPicPr>
          <p:cNvPr id="17" name="Picture 16" descr="A black and white icon of a graph&#10;&#10;AI-generated content may be incorrect.">
            <a:extLst>
              <a:ext uri="{FF2B5EF4-FFF2-40B4-BE49-F238E27FC236}">
                <a16:creationId xmlns:a16="http://schemas.microsoft.com/office/drawing/2014/main" id="{A009681F-BDCE-504E-5BE7-7E5024275C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46116" y="4251370"/>
            <a:ext cx="903726" cy="1291299"/>
          </a:xfrm>
          <a:prstGeom prst="rect">
            <a:avLst/>
          </a:prstGeom>
        </p:spPr>
      </p:pic>
      <p:pic>
        <p:nvPicPr>
          <p:cNvPr id="19" name="Picture 18" descr="A black and white graph on a paper&#10;&#10;AI-generated content may be incorrect.">
            <a:extLst>
              <a:ext uri="{FF2B5EF4-FFF2-40B4-BE49-F238E27FC236}">
                <a16:creationId xmlns:a16="http://schemas.microsoft.com/office/drawing/2014/main" id="{1ECE7B1D-9015-0EF9-6A76-D06287EEB1E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6800" y="4263637"/>
            <a:ext cx="998077" cy="1291299"/>
          </a:xfrm>
          <a:prstGeom prst="rect">
            <a:avLst/>
          </a:prstGeom>
        </p:spPr>
      </p:pic>
      <p:pic>
        <p:nvPicPr>
          <p:cNvPr id="21" name="Picture 20" descr="A graph on a paper&#10;&#10;AI-generated content may be incorrect.">
            <a:extLst>
              <a:ext uri="{FF2B5EF4-FFF2-40B4-BE49-F238E27FC236}">
                <a16:creationId xmlns:a16="http://schemas.microsoft.com/office/drawing/2014/main" id="{A0A1A96C-21D5-BCCA-553C-AA770E7FE9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27123" y="4174067"/>
            <a:ext cx="918438" cy="1394829"/>
          </a:xfrm>
          <a:prstGeom prst="rect">
            <a:avLst/>
          </a:prstGeom>
        </p:spPr>
      </p:pic>
      <p:pic>
        <p:nvPicPr>
          <p:cNvPr id="26" name="Picture 25" descr="A black and white image of a graph&#10;&#10;AI-generated content may be incorrect.">
            <a:extLst>
              <a:ext uri="{FF2B5EF4-FFF2-40B4-BE49-F238E27FC236}">
                <a16:creationId xmlns:a16="http://schemas.microsoft.com/office/drawing/2014/main" id="{47E01879-9A1B-38BD-A0D4-D57E03AB70D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40431" y="4129244"/>
            <a:ext cx="1161702" cy="1394828"/>
          </a:xfrm>
          <a:prstGeom prst="rect">
            <a:avLst/>
          </a:prstGeom>
        </p:spPr>
      </p:pic>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11"/>
          <a:stretch>
            <a:fillRect/>
          </a:stretch>
        </p:blipFill>
        <p:spPr>
          <a:xfrm>
            <a:off x="241496" y="154909"/>
            <a:ext cx="11553002" cy="1378191"/>
          </a:xfrm>
          <a:prstGeom prst="rect">
            <a:avLst/>
          </a:prstGeom>
        </p:spPr>
      </p:pic>
      <p:pic>
        <p:nvPicPr>
          <p:cNvPr id="24" name="Picture 23" descr="A cartoon of a globe holding a paper and a pen&#10;&#10;AI-generated content may be incorrect.">
            <a:extLst>
              <a:ext uri="{FF2B5EF4-FFF2-40B4-BE49-F238E27FC236}">
                <a16:creationId xmlns:a16="http://schemas.microsoft.com/office/drawing/2014/main" id="{D342CB5A-A8AB-B4E9-2012-596CEBCE4B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025756" y="4002663"/>
            <a:ext cx="2768742" cy="2076557"/>
          </a:xfrm>
          <a:prstGeom prst="rect">
            <a:avLst/>
          </a:prstGeom>
        </p:spPr>
      </p:pic>
    </p:spTree>
    <p:extLst>
      <p:ext uri="{BB962C8B-B14F-4D97-AF65-F5344CB8AC3E}">
        <p14:creationId xmlns:p14="http://schemas.microsoft.com/office/powerpoint/2010/main" val="1887656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18040"/>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News/</a:t>
            </a:r>
            <a:r>
              <a:rPr lang="en-NZ" sz="4000" b="1" dirty="0">
                <a:solidFill>
                  <a:schemeClr val="bg1">
                    <a:alpha val="50000"/>
                  </a:schemeClr>
                </a:solidFill>
              </a:rPr>
              <a:t>Nga </a:t>
            </a:r>
            <a:r>
              <a:rPr lang="en-NZ" sz="4000" b="1" dirty="0" err="1">
                <a:solidFill>
                  <a:schemeClr val="bg1">
                    <a:alpha val="50000"/>
                  </a:schemeClr>
                </a:solidFill>
              </a:rPr>
              <a:t>Kārere</a:t>
            </a:r>
            <a:endParaRPr lang="en-NZ" sz="4000" dirty="0">
              <a:solidFill>
                <a:schemeClr val="bg1">
                  <a:alpha val="50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5071465" y="3370182"/>
            <a:ext cx="4826845" cy="3693319"/>
          </a:xfrm>
          <a:prstGeom prst="rect">
            <a:avLst/>
          </a:prstGeom>
          <a:noFill/>
        </p:spPr>
        <p:txBody>
          <a:bodyPr wrap="square" rtlCol="0">
            <a:spAutoFit/>
          </a:bodyPr>
          <a:lstStyle/>
          <a:p>
            <a:pPr algn="l"/>
            <a:r>
              <a:rPr lang="en-NZ" b="1" dirty="0"/>
              <a:t>Social Media</a:t>
            </a:r>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pic>
        <p:nvPicPr>
          <p:cNvPr id="5" name="Picture 4">
            <a:extLst>
              <a:ext uri="{FF2B5EF4-FFF2-40B4-BE49-F238E27FC236}">
                <a16:creationId xmlns:a16="http://schemas.microsoft.com/office/drawing/2014/main" id="{CF6231BE-8384-7291-C237-30364F36641F}"/>
              </a:ext>
            </a:extLst>
          </p:cNvPr>
          <p:cNvPicPr>
            <a:picLocks noChangeAspect="1"/>
          </p:cNvPicPr>
          <p:nvPr/>
        </p:nvPicPr>
        <p:blipFill>
          <a:blip r:embed="rId3"/>
          <a:stretch>
            <a:fillRect/>
          </a:stretch>
        </p:blipFill>
        <p:spPr>
          <a:xfrm>
            <a:off x="241496" y="154909"/>
            <a:ext cx="11553002" cy="1378191"/>
          </a:xfrm>
          <a:prstGeom prst="rect">
            <a:avLst/>
          </a:prstGeom>
        </p:spPr>
      </p:pic>
      <p:pic>
        <p:nvPicPr>
          <p:cNvPr id="18" name="Picture 17">
            <a:extLst>
              <a:ext uri="{FF2B5EF4-FFF2-40B4-BE49-F238E27FC236}">
                <a16:creationId xmlns:a16="http://schemas.microsoft.com/office/drawing/2014/main" id="{53B18656-6C76-A19B-849B-DFCCEA549A7D}"/>
              </a:ext>
            </a:extLst>
          </p:cNvPr>
          <p:cNvPicPr>
            <a:picLocks noChangeAspect="1"/>
          </p:cNvPicPr>
          <p:nvPr/>
        </p:nvPicPr>
        <p:blipFill>
          <a:blip r:embed="rId4"/>
          <a:stretch>
            <a:fillRect/>
          </a:stretch>
        </p:blipFill>
        <p:spPr>
          <a:xfrm>
            <a:off x="2185034" y="4141742"/>
            <a:ext cx="1955645" cy="1844948"/>
          </a:xfrm>
          <a:prstGeom prst="rect">
            <a:avLst/>
          </a:prstGeom>
        </p:spPr>
      </p:pic>
      <p:pic>
        <p:nvPicPr>
          <p:cNvPr id="22" name="Picture 21">
            <a:extLst>
              <a:ext uri="{FF2B5EF4-FFF2-40B4-BE49-F238E27FC236}">
                <a16:creationId xmlns:a16="http://schemas.microsoft.com/office/drawing/2014/main" id="{9A6A1C38-CB8A-AFA1-CA58-BD2874F59775}"/>
              </a:ext>
            </a:extLst>
          </p:cNvPr>
          <p:cNvPicPr>
            <a:picLocks noChangeAspect="1"/>
          </p:cNvPicPr>
          <p:nvPr/>
        </p:nvPicPr>
        <p:blipFill>
          <a:blip r:embed="rId5"/>
          <a:stretch>
            <a:fillRect/>
          </a:stretch>
        </p:blipFill>
        <p:spPr>
          <a:xfrm>
            <a:off x="7003793" y="4248078"/>
            <a:ext cx="1829655" cy="1650528"/>
          </a:xfrm>
          <a:prstGeom prst="rect">
            <a:avLst/>
          </a:prstGeom>
        </p:spPr>
      </p:pic>
      <p:sp>
        <p:nvSpPr>
          <p:cNvPr id="2" name="TextBox 1">
            <a:extLst>
              <a:ext uri="{FF2B5EF4-FFF2-40B4-BE49-F238E27FC236}">
                <a16:creationId xmlns:a16="http://schemas.microsoft.com/office/drawing/2014/main" id="{AFA0E3CB-F427-57B2-B06F-AB20A0BA13A0}"/>
              </a:ext>
            </a:extLst>
          </p:cNvPr>
          <p:cNvSpPr txBox="1"/>
          <p:nvPr/>
        </p:nvSpPr>
        <p:spPr>
          <a:xfrm>
            <a:off x="4487333" y="5240867"/>
            <a:ext cx="1134534" cy="923330"/>
          </a:xfrm>
          <a:prstGeom prst="rect">
            <a:avLst/>
          </a:prstGeom>
          <a:noFill/>
        </p:spPr>
        <p:txBody>
          <a:bodyPr wrap="square" rtlCol="0">
            <a:spAutoFit/>
          </a:bodyPr>
          <a:lstStyle/>
          <a:p>
            <a:r>
              <a:rPr lang="en-NZ" dirty="0">
                <a:highlight>
                  <a:srgbClr val="FFFF00"/>
                </a:highlight>
              </a:rPr>
              <a:t>Link our </a:t>
            </a:r>
            <a:r>
              <a:rPr lang="en-NZ" dirty="0" err="1">
                <a:highlight>
                  <a:srgbClr val="FFFF00"/>
                </a:highlight>
              </a:rPr>
              <a:t>facebook</a:t>
            </a:r>
            <a:r>
              <a:rPr lang="en-NZ" dirty="0">
                <a:highlight>
                  <a:srgbClr val="FFFF00"/>
                </a:highlight>
              </a:rPr>
              <a:t> page</a:t>
            </a:r>
          </a:p>
        </p:txBody>
      </p:sp>
      <p:sp>
        <p:nvSpPr>
          <p:cNvPr id="6" name="TextBox 5">
            <a:extLst>
              <a:ext uri="{FF2B5EF4-FFF2-40B4-BE49-F238E27FC236}">
                <a16:creationId xmlns:a16="http://schemas.microsoft.com/office/drawing/2014/main" id="{A5CE6F74-760E-761C-3EED-898BCCAB48C7}"/>
              </a:ext>
            </a:extLst>
          </p:cNvPr>
          <p:cNvSpPr txBox="1"/>
          <p:nvPr/>
        </p:nvSpPr>
        <p:spPr>
          <a:xfrm>
            <a:off x="9347908" y="5147734"/>
            <a:ext cx="1134534" cy="369332"/>
          </a:xfrm>
          <a:prstGeom prst="rect">
            <a:avLst/>
          </a:prstGeom>
          <a:noFill/>
        </p:spPr>
        <p:txBody>
          <a:bodyPr wrap="square" rtlCol="0">
            <a:spAutoFit/>
          </a:bodyPr>
          <a:lstStyle/>
          <a:p>
            <a:r>
              <a:rPr lang="en-NZ" dirty="0"/>
              <a:t>Link </a:t>
            </a:r>
          </a:p>
        </p:txBody>
      </p:sp>
    </p:spTree>
    <p:extLst>
      <p:ext uri="{BB962C8B-B14F-4D97-AF65-F5344CB8AC3E}">
        <p14:creationId xmlns:p14="http://schemas.microsoft.com/office/powerpoint/2010/main" val="1513525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a:extLst>
              <a:ext uri="{FF2B5EF4-FFF2-40B4-BE49-F238E27FC236}">
                <a16:creationId xmlns:a16="http://schemas.microsoft.com/office/drawing/2014/main" id="{854D2BD3-9C9C-45A7-A82F-470C89290DAF}"/>
              </a:ext>
            </a:extLst>
          </p:cNvPr>
          <p:cNvSpPr>
            <a:spLocks noGrp="1"/>
          </p:cNvSpPr>
          <p:nvPr/>
        </p:nvSpPr>
        <p:spPr>
          <a:xfrm>
            <a:off x="571500" y="285750"/>
            <a:ext cx="11077575" cy="523875"/>
          </a:xfrm>
          <a:prstGeom prst="rect">
            <a:avLst/>
          </a:prstGeom>
          <a:noFill/>
          <a:ln w="0">
            <a:noFill/>
            <a:prstDash val="solid"/>
          </a:ln>
        </p:spPr>
        <p:txBody>
          <a:bodyPr anchor="ctr"/>
          <a:lstStyle/>
          <a:p>
            <a:pPr algn="ctr">
              <a:defRPr sz="2550" b="1">
                <a:solidFill>
                  <a:srgbClr val="123B68"/>
                </a:solidFill>
              </a:defRPr>
            </a:pPr>
            <a:r>
              <a:rPr lang="en-NZ" sz="2550" b="1" dirty="0">
                <a:solidFill>
                  <a:srgbClr val="123B68"/>
                </a:solidFill>
              </a:rPr>
              <a:t>SUCCESSES</a:t>
            </a:r>
            <a:endParaRPr sz="2550" b="1" dirty="0">
              <a:solidFill>
                <a:srgbClr val="123B68"/>
              </a:solidFill>
            </a:endParaRPr>
          </a:p>
        </p:txBody>
      </p:sp>
      <p:sp>
        <p:nvSpPr>
          <p:cNvPr id="2" name="subtitle">
            <a:extLst>
              <a:ext uri="{FF2B5EF4-FFF2-40B4-BE49-F238E27FC236}">
                <a16:creationId xmlns:a16="http://schemas.microsoft.com/office/drawing/2014/main" id="{D55CF2BA-3C46-4D6E-9A90-AD7F8F8137C8}"/>
              </a:ext>
            </a:extLst>
          </p:cNvPr>
          <p:cNvSpPr>
            <a:spLocks noGrp="1"/>
          </p:cNvSpPr>
          <p:nvPr/>
        </p:nvSpPr>
        <p:spPr>
          <a:xfrm>
            <a:off x="571500" y="723899"/>
            <a:ext cx="11049000" cy="409575"/>
          </a:xfrm>
          <a:prstGeom prst="rect">
            <a:avLst/>
          </a:prstGeom>
          <a:noFill/>
          <a:ln w="0">
            <a:noFill/>
            <a:prstDash val="solid"/>
          </a:ln>
        </p:spPr>
        <p:txBody>
          <a:bodyPr anchor="ctr"/>
          <a:lstStyle/>
          <a:p>
            <a:pPr algn="ctr">
              <a:defRPr sz="1200" b="0">
                <a:solidFill>
                  <a:srgbClr val="267D94"/>
                </a:solidFill>
              </a:defRPr>
            </a:pPr>
            <a:r>
              <a:rPr sz="1600" b="1" dirty="0">
                <a:solidFill>
                  <a:srgbClr val="267D94"/>
                </a:solidFill>
              </a:rPr>
              <a:t>Selected grants and purchases supported since 1993   |   Latest recorded cumulative value: $2,074,136</a:t>
            </a:r>
          </a:p>
        </p:txBody>
      </p:sp>
      <p:pic>
        <p:nvPicPr>
          <p:cNvPr id="52" name="Picture 51"/>
          <p:cNvPicPr>
            <a:picLocks noChangeAspect="1"/>
          </p:cNvPicPr>
          <p:nvPr/>
        </p:nvPicPr>
        <p:blipFill>
          <a:blip r:embed="rId3"/>
          <a:stretch/>
        </p:blipFill>
        <p:spPr>
          <a:xfrm>
            <a:off x="680660" y="1160253"/>
            <a:ext cx="1946189" cy="5143500"/>
          </a:xfrm>
          <a:prstGeom prst="rect">
            <a:avLst/>
          </a:prstGeom>
        </p:spPr>
      </p:pic>
      <p:sp>
        <p:nvSpPr>
          <p:cNvPr id="4" name="header-year">
            <a:extLst>
              <a:ext uri="{FF2B5EF4-FFF2-40B4-BE49-F238E27FC236}">
                <a16:creationId xmlns:a16="http://schemas.microsoft.com/office/drawing/2014/main" id="{F9858042-0703-4D21-AD35-E58F560940B6}"/>
              </a:ext>
            </a:extLst>
          </p:cNvPr>
          <p:cNvSpPr>
            <a:spLocks noGrp="1"/>
          </p:cNvSpPr>
          <p:nvPr/>
        </p:nvSpPr>
        <p:spPr>
          <a:xfrm>
            <a:off x="2905125" y="1162050"/>
            <a:ext cx="762000" cy="304800"/>
          </a:xfrm>
          <a:prstGeom prst="rect">
            <a:avLst/>
          </a:prstGeom>
          <a:solidFill>
            <a:srgbClr val="123B68"/>
          </a:solidFill>
          <a:ln w="0">
            <a:noFill/>
            <a:prstDash val="solid"/>
          </a:ln>
        </p:spPr>
        <p:txBody>
          <a:bodyPr anchor="ctr"/>
          <a:lstStyle/>
          <a:p>
            <a:pPr algn="ctr">
              <a:defRPr sz="1050" b="1">
                <a:solidFill>
                  <a:srgbClr val="FFFFFF"/>
                </a:solidFill>
              </a:defRPr>
            </a:pPr>
            <a:r>
              <a:rPr sz="1050" b="1">
                <a:solidFill>
                  <a:srgbClr val="FFFFFF"/>
                </a:solidFill>
              </a:rPr>
              <a:t>YEAR</a:t>
            </a:r>
          </a:p>
        </p:txBody>
      </p:sp>
      <p:sp>
        <p:nvSpPr>
          <p:cNvPr id="5" name="header-total">
            <a:extLst>
              <a:ext uri="{FF2B5EF4-FFF2-40B4-BE49-F238E27FC236}">
                <a16:creationId xmlns:a16="http://schemas.microsoft.com/office/drawing/2014/main" id="{3276F4B5-2D06-4E64-91A3-158CDA90491C}"/>
              </a:ext>
            </a:extLst>
          </p:cNvPr>
          <p:cNvSpPr>
            <a:spLocks noGrp="1"/>
          </p:cNvSpPr>
          <p:nvPr/>
        </p:nvSpPr>
        <p:spPr>
          <a:xfrm>
            <a:off x="3667125" y="1162050"/>
            <a:ext cx="1190625" cy="304800"/>
          </a:xfrm>
          <a:prstGeom prst="rect">
            <a:avLst/>
          </a:prstGeom>
          <a:solidFill>
            <a:srgbClr val="123B68"/>
          </a:solidFill>
          <a:ln w="0">
            <a:noFill/>
            <a:prstDash val="solid"/>
          </a:ln>
        </p:spPr>
        <p:txBody>
          <a:bodyPr anchor="ctr"/>
          <a:lstStyle/>
          <a:p>
            <a:pPr algn="ctr">
              <a:defRPr sz="1050" b="1">
                <a:solidFill>
                  <a:srgbClr val="FFFFFF"/>
                </a:solidFill>
              </a:defRPr>
            </a:pPr>
            <a:r>
              <a:rPr sz="1050" b="1">
                <a:solidFill>
                  <a:srgbClr val="FFFFFF"/>
                </a:solidFill>
              </a:rPr>
              <a:t>TOTAL</a:t>
            </a:r>
          </a:p>
        </p:txBody>
      </p:sp>
      <p:sp>
        <p:nvSpPr>
          <p:cNvPr id="6" name="header-examples">
            <a:extLst>
              <a:ext uri="{FF2B5EF4-FFF2-40B4-BE49-F238E27FC236}">
                <a16:creationId xmlns:a16="http://schemas.microsoft.com/office/drawing/2014/main" id="{508D035A-A2EA-4D86-8E87-0481A98672C7}"/>
              </a:ext>
            </a:extLst>
          </p:cNvPr>
          <p:cNvSpPr>
            <a:spLocks noGrp="1"/>
          </p:cNvSpPr>
          <p:nvPr/>
        </p:nvSpPr>
        <p:spPr>
          <a:xfrm>
            <a:off x="4857750" y="1162050"/>
            <a:ext cx="6762750" cy="304800"/>
          </a:xfrm>
          <a:prstGeom prst="rect">
            <a:avLst/>
          </a:prstGeom>
          <a:solidFill>
            <a:srgbClr val="123B68"/>
          </a:solidFill>
          <a:ln w="0">
            <a:noFill/>
            <a:prstDash val="solid"/>
          </a:ln>
        </p:spPr>
        <p:txBody>
          <a:bodyPr anchor="ctr"/>
          <a:lstStyle/>
          <a:p>
            <a:pPr algn="l">
              <a:defRPr sz="1050" b="1">
                <a:solidFill>
                  <a:srgbClr val="FFFFFF"/>
                </a:solidFill>
              </a:defRPr>
            </a:pPr>
            <a:r>
              <a:rPr sz="1050" b="1">
                <a:solidFill>
                  <a:srgbClr val="FFFFFF"/>
                </a:solidFill>
              </a:rPr>
              <a:t>EXAMPLES OF GRANTS AND PURCHASES</a:t>
            </a:r>
          </a:p>
        </p:txBody>
      </p:sp>
      <p:sp>
        <p:nvSpPr>
          <p:cNvPr id="7" name="year-0">
            <a:extLst>
              <a:ext uri="{FF2B5EF4-FFF2-40B4-BE49-F238E27FC236}">
                <a16:creationId xmlns:a16="http://schemas.microsoft.com/office/drawing/2014/main" id="{6CD1B256-339A-4DFD-91D8-260E31ABF6EC}"/>
              </a:ext>
            </a:extLst>
          </p:cNvPr>
          <p:cNvSpPr>
            <a:spLocks noGrp="1"/>
          </p:cNvSpPr>
          <p:nvPr/>
        </p:nvSpPr>
        <p:spPr>
          <a:xfrm>
            <a:off x="2905125" y="1466850"/>
            <a:ext cx="762000" cy="333375"/>
          </a:xfrm>
          <a:prstGeom prst="rect">
            <a:avLst/>
          </a:prstGeom>
          <a:solidFill>
            <a:srgbClr val="1786C0"/>
          </a:solidFill>
          <a:ln w="0">
            <a:noFill/>
            <a:prstDash val="solid"/>
          </a:ln>
        </p:spPr>
        <p:txBody>
          <a:bodyPr anchor="ctr"/>
          <a:lstStyle/>
          <a:p>
            <a:pPr algn="ctr">
              <a:defRPr sz="938" b="1">
                <a:solidFill>
                  <a:srgbClr val="FFFFFF"/>
                </a:solidFill>
              </a:defRPr>
            </a:pPr>
            <a:r>
              <a:rPr sz="938" b="1">
                <a:solidFill>
                  <a:srgbClr val="FFFFFF"/>
                </a:solidFill>
              </a:rPr>
              <a:t>2024</a:t>
            </a:r>
          </a:p>
        </p:txBody>
      </p:sp>
      <p:sp>
        <p:nvSpPr>
          <p:cNvPr id="8" name="total-0">
            <a:extLst>
              <a:ext uri="{FF2B5EF4-FFF2-40B4-BE49-F238E27FC236}">
                <a16:creationId xmlns:a16="http://schemas.microsoft.com/office/drawing/2014/main" id="{83532FCC-A09B-4518-A447-319C6CCB48E2}"/>
              </a:ext>
            </a:extLst>
          </p:cNvPr>
          <p:cNvSpPr>
            <a:spLocks noGrp="1"/>
          </p:cNvSpPr>
          <p:nvPr/>
        </p:nvSpPr>
        <p:spPr>
          <a:xfrm>
            <a:off x="3667125" y="144348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$2,074,136</a:t>
            </a:r>
          </a:p>
        </p:txBody>
      </p:sp>
      <p:sp>
        <p:nvSpPr>
          <p:cNvPr id="9" name="detail-0">
            <a:extLst>
              <a:ext uri="{FF2B5EF4-FFF2-40B4-BE49-F238E27FC236}">
                <a16:creationId xmlns:a16="http://schemas.microsoft.com/office/drawing/2014/main" id="{D0C88407-E2E2-4F7D-B211-A8544E9154E1}"/>
              </a:ext>
            </a:extLst>
          </p:cNvPr>
          <p:cNvSpPr>
            <a:spLocks noGrp="1"/>
          </p:cNvSpPr>
          <p:nvPr/>
        </p:nvSpPr>
        <p:spPr>
          <a:xfrm>
            <a:off x="4857750" y="14668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Anamata Cafe: clinic bed, blood-pressure monitors and otoscope; RN emergency and trauma training; television wiring</a:t>
            </a:r>
          </a:p>
        </p:txBody>
      </p:sp>
      <p:sp>
        <p:nvSpPr>
          <p:cNvPr id="10" name="year-1">
            <a:extLst>
              <a:ext uri="{FF2B5EF4-FFF2-40B4-BE49-F238E27FC236}">
                <a16:creationId xmlns:a16="http://schemas.microsoft.com/office/drawing/2014/main" id="{B938843D-0DB8-4E62-9A86-3ABC0F68A60C}"/>
              </a:ext>
            </a:extLst>
          </p:cNvPr>
          <p:cNvSpPr>
            <a:spLocks noGrp="1"/>
          </p:cNvSpPr>
          <p:nvPr/>
        </p:nvSpPr>
        <p:spPr>
          <a:xfrm>
            <a:off x="2905125" y="1800225"/>
            <a:ext cx="762000" cy="333375"/>
          </a:xfrm>
          <a:prstGeom prst="rect">
            <a:avLst/>
          </a:prstGeom>
          <a:solidFill>
            <a:srgbClr val="D9F000"/>
          </a:solidFill>
          <a:ln w="0">
            <a:noFill/>
            <a:prstDash val="solid"/>
          </a:ln>
        </p:spPr>
        <p:txBody>
          <a:bodyPr anchor="ctr"/>
          <a:lstStyle/>
          <a:p>
            <a:pPr algn="ctr">
              <a:defRPr sz="938" b="1">
                <a:solidFill>
                  <a:srgbClr val="253746"/>
                </a:solidFill>
              </a:defRPr>
            </a:pPr>
            <a:r>
              <a:rPr sz="938" b="1">
                <a:solidFill>
                  <a:srgbClr val="253746"/>
                </a:solidFill>
              </a:rPr>
              <a:t>2023</a:t>
            </a:r>
          </a:p>
        </p:txBody>
      </p:sp>
      <p:sp>
        <p:nvSpPr>
          <p:cNvPr id="11" name="total-1">
            <a:extLst>
              <a:ext uri="{FF2B5EF4-FFF2-40B4-BE49-F238E27FC236}">
                <a16:creationId xmlns:a16="http://schemas.microsoft.com/office/drawing/2014/main" id="{A54B7B8C-2956-4D58-8B63-D8C920A67D75}"/>
              </a:ext>
            </a:extLst>
          </p:cNvPr>
          <p:cNvSpPr>
            <a:spLocks noGrp="1"/>
          </p:cNvSpPr>
          <p:nvPr/>
        </p:nvSpPr>
        <p:spPr>
          <a:xfrm>
            <a:off x="3667125" y="18002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dirty="0">
                <a:solidFill>
                  <a:srgbClr val="123B68"/>
                </a:solidFill>
              </a:rPr>
              <a:t>$2,066,257</a:t>
            </a:r>
          </a:p>
        </p:txBody>
      </p:sp>
      <p:sp>
        <p:nvSpPr>
          <p:cNvPr id="12" name="detail-1">
            <a:extLst>
              <a:ext uri="{FF2B5EF4-FFF2-40B4-BE49-F238E27FC236}">
                <a16:creationId xmlns:a16="http://schemas.microsoft.com/office/drawing/2014/main" id="{F96F7528-31A6-4145-8E79-CFEF79923685}"/>
              </a:ext>
            </a:extLst>
          </p:cNvPr>
          <p:cNvSpPr>
            <a:spLocks noGrp="1"/>
          </p:cNvSpPr>
          <p:nvPr/>
        </p:nvSpPr>
        <p:spPr>
          <a:xfrm>
            <a:off x="4857750" y="18002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Replacement of 16 televisions in Taupo Hospital's Inpatient Unit</a:t>
            </a:r>
          </a:p>
        </p:txBody>
      </p:sp>
      <p:sp>
        <p:nvSpPr>
          <p:cNvPr id="13" name="year-2">
            <a:extLst>
              <a:ext uri="{FF2B5EF4-FFF2-40B4-BE49-F238E27FC236}">
                <a16:creationId xmlns:a16="http://schemas.microsoft.com/office/drawing/2014/main" id="{470FCD28-1942-4DCE-A58A-3694133E27D8}"/>
              </a:ext>
            </a:extLst>
          </p:cNvPr>
          <p:cNvSpPr>
            <a:spLocks noGrp="1"/>
          </p:cNvSpPr>
          <p:nvPr/>
        </p:nvSpPr>
        <p:spPr>
          <a:xfrm>
            <a:off x="2905125" y="2133600"/>
            <a:ext cx="762000" cy="333375"/>
          </a:xfrm>
          <a:prstGeom prst="rect">
            <a:avLst/>
          </a:prstGeom>
          <a:solidFill>
            <a:srgbClr val="00B050"/>
          </a:solidFill>
          <a:ln w="0">
            <a:noFill/>
            <a:prstDash val="solid"/>
          </a:ln>
        </p:spPr>
        <p:txBody>
          <a:bodyPr anchor="ctr"/>
          <a:lstStyle/>
          <a:p>
            <a:pPr algn="ctr">
              <a:defRPr sz="938" b="1">
                <a:solidFill>
                  <a:srgbClr val="FFFFFF"/>
                </a:solidFill>
              </a:defRPr>
            </a:pPr>
            <a:r>
              <a:rPr sz="938" b="1">
                <a:solidFill>
                  <a:srgbClr val="FFFFFF"/>
                </a:solidFill>
              </a:rPr>
              <a:t>2022</a:t>
            </a:r>
          </a:p>
        </p:txBody>
      </p:sp>
      <p:sp>
        <p:nvSpPr>
          <p:cNvPr id="14" name="total-2">
            <a:extLst>
              <a:ext uri="{FF2B5EF4-FFF2-40B4-BE49-F238E27FC236}">
                <a16:creationId xmlns:a16="http://schemas.microsoft.com/office/drawing/2014/main" id="{BF767C50-D54C-4959-8F3D-BF363954167B}"/>
              </a:ext>
            </a:extLst>
          </p:cNvPr>
          <p:cNvSpPr>
            <a:spLocks noGrp="1"/>
          </p:cNvSpPr>
          <p:nvPr/>
        </p:nvSpPr>
        <p:spPr>
          <a:xfrm>
            <a:off x="3667125" y="213360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$2,049,362</a:t>
            </a:r>
          </a:p>
        </p:txBody>
      </p:sp>
      <p:sp>
        <p:nvSpPr>
          <p:cNvPr id="15" name="detail-2">
            <a:extLst>
              <a:ext uri="{FF2B5EF4-FFF2-40B4-BE49-F238E27FC236}">
                <a16:creationId xmlns:a16="http://schemas.microsoft.com/office/drawing/2014/main" id="{BDB9B5E5-DC2C-4A6B-B42B-DA0EAEA52113}"/>
              </a:ext>
            </a:extLst>
          </p:cNvPr>
          <p:cNvSpPr>
            <a:spLocks noGrp="1"/>
          </p:cNvSpPr>
          <p:nvPr/>
        </p:nvSpPr>
        <p:spPr>
          <a:xfrm>
            <a:off x="4857750" y="213360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Chemotherapy chairs; </a:t>
            </a:r>
            <a:r>
              <a:rPr sz="1100" b="0" dirty="0" err="1">
                <a:solidFill>
                  <a:srgbClr val="253746"/>
                </a:solidFill>
              </a:rPr>
              <a:t>AccuVein</a:t>
            </a:r>
            <a:r>
              <a:rPr sz="1100" b="0" dirty="0">
                <a:solidFill>
                  <a:srgbClr val="253746"/>
                </a:solidFill>
              </a:rPr>
              <a:t> 500; </a:t>
            </a:r>
            <a:r>
              <a:rPr sz="1100" b="0" dirty="0" err="1">
                <a:solidFill>
                  <a:srgbClr val="253746"/>
                </a:solidFill>
              </a:rPr>
              <a:t>paediatric</a:t>
            </a:r>
            <a:r>
              <a:rPr sz="1100" b="0" dirty="0">
                <a:solidFill>
                  <a:srgbClr val="253746"/>
                </a:solidFill>
              </a:rPr>
              <a:t> assessment and treatment-room artwork</a:t>
            </a:r>
          </a:p>
        </p:txBody>
      </p:sp>
      <p:sp>
        <p:nvSpPr>
          <p:cNvPr id="16" name="year-3">
            <a:extLst>
              <a:ext uri="{FF2B5EF4-FFF2-40B4-BE49-F238E27FC236}">
                <a16:creationId xmlns:a16="http://schemas.microsoft.com/office/drawing/2014/main" id="{FEA44B88-777B-4155-BD6A-6E38A568FD50}"/>
              </a:ext>
            </a:extLst>
          </p:cNvPr>
          <p:cNvSpPr>
            <a:spLocks noGrp="1"/>
          </p:cNvSpPr>
          <p:nvPr/>
        </p:nvSpPr>
        <p:spPr>
          <a:xfrm>
            <a:off x="2905125" y="2466975"/>
            <a:ext cx="762000" cy="333375"/>
          </a:xfrm>
          <a:prstGeom prst="rect">
            <a:avLst/>
          </a:prstGeom>
          <a:solidFill>
            <a:srgbClr val="C00000"/>
          </a:solidFill>
          <a:ln w="0">
            <a:noFill/>
            <a:prstDash val="solid"/>
          </a:ln>
        </p:spPr>
        <p:txBody>
          <a:bodyPr anchor="ctr"/>
          <a:lstStyle/>
          <a:p>
            <a:pPr algn="ctr">
              <a:defRPr sz="938" b="1">
                <a:solidFill>
                  <a:srgbClr val="FFFFFF"/>
                </a:solidFill>
              </a:defRPr>
            </a:pPr>
            <a:r>
              <a:rPr sz="938" b="1">
                <a:solidFill>
                  <a:srgbClr val="FFFFFF"/>
                </a:solidFill>
              </a:rPr>
              <a:t>2019</a:t>
            </a:r>
          </a:p>
        </p:txBody>
      </p:sp>
      <p:sp>
        <p:nvSpPr>
          <p:cNvPr id="17" name="total-3">
            <a:extLst>
              <a:ext uri="{FF2B5EF4-FFF2-40B4-BE49-F238E27FC236}">
                <a16:creationId xmlns:a16="http://schemas.microsoft.com/office/drawing/2014/main" id="{C099B382-C422-4414-ADC7-BEA03300BC70}"/>
              </a:ext>
            </a:extLst>
          </p:cNvPr>
          <p:cNvSpPr>
            <a:spLocks noGrp="1"/>
          </p:cNvSpPr>
          <p:nvPr/>
        </p:nvSpPr>
        <p:spPr>
          <a:xfrm>
            <a:off x="3667125" y="246697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$2,023,250</a:t>
            </a:r>
          </a:p>
        </p:txBody>
      </p:sp>
      <p:sp>
        <p:nvSpPr>
          <p:cNvPr id="18" name="detail-3">
            <a:extLst>
              <a:ext uri="{FF2B5EF4-FFF2-40B4-BE49-F238E27FC236}">
                <a16:creationId xmlns:a16="http://schemas.microsoft.com/office/drawing/2014/main" id="{5804313B-A22D-442D-8C48-3E8E0EB747F8}"/>
              </a:ext>
            </a:extLst>
          </p:cNvPr>
          <p:cNvSpPr>
            <a:spLocks noGrp="1"/>
          </p:cNvSpPr>
          <p:nvPr/>
        </p:nvSpPr>
        <p:spPr>
          <a:xfrm>
            <a:off x="4857750" y="2460156"/>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Echocardiogram for Taupo Hospital</a:t>
            </a:r>
          </a:p>
        </p:txBody>
      </p:sp>
      <p:sp>
        <p:nvSpPr>
          <p:cNvPr id="19" name="year-4">
            <a:extLst>
              <a:ext uri="{FF2B5EF4-FFF2-40B4-BE49-F238E27FC236}">
                <a16:creationId xmlns:a16="http://schemas.microsoft.com/office/drawing/2014/main" id="{596E1FDE-822A-4368-B400-57D3B41DDC40}"/>
              </a:ext>
            </a:extLst>
          </p:cNvPr>
          <p:cNvSpPr>
            <a:spLocks noGrp="1"/>
          </p:cNvSpPr>
          <p:nvPr/>
        </p:nvSpPr>
        <p:spPr>
          <a:xfrm>
            <a:off x="2905125" y="2800350"/>
            <a:ext cx="762000" cy="333375"/>
          </a:xfrm>
          <a:prstGeom prst="rect">
            <a:avLst/>
          </a:prstGeom>
          <a:solidFill>
            <a:srgbClr val="B7A45C"/>
          </a:solidFill>
          <a:ln w="0">
            <a:noFill/>
            <a:prstDash val="solid"/>
          </a:ln>
        </p:spPr>
        <p:txBody>
          <a:bodyPr anchor="ctr"/>
          <a:lstStyle/>
          <a:p>
            <a:pPr algn="ctr">
              <a:defRPr sz="825" b="1">
                <a:solidFill>
                  <a:srgbClr val="253746"/>
                </a:solidFill>
              </a:defRPr>
            </a:pPr>
            <a:r>
              <a:rPr sz="825" b="1" dirty="0">
                <a:solidFill>
                  <a:srgbClr val="253746"/>
                </a:solidFill>
              </a:rPr>
              <a:t>Year not shown</a:t>
            </a:r>
          </a:p>
        </p:txBody>
      </p:sp>
      <p:sp>
        <p:nvSpPr>
          <p:cNvPr id="20" name="total-4">
            <a:extLst>
              <a:ext uri="{FF2B5EF4-FFF2-40B4-BE49-F238E27FC236}">
                <a16:creationId xmlns:a16="http://schemas.microsoft.com/office/drawing/2014/main" id="{44C67ADA-5C75-411D-A147-F16528E4C89D}"/>
              </a:ext>
            </a:extLst>
          </p:cNvPr>
          <p:cNvSpPr>
            <a:spLocks noGrp="1"/>
          </p:cNvSpPr>
          <p:nvPr/>
        </p:nvSpPr>
        <p:spPr>
          <a:xfrm>
            <a:off x="3667125" y="280035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$1,740,141</a:t>
            </a:r>
          </a:p>
        </p:txBody>
      </p:sp>
      <p:sp>
        <p:nvSpPr>
          <p:cNvPr id="21" name="detail-4">
            <a:extLst>
              <a:ext uri="{FF2B5EF4-FFF2-40B4-BE49-F238E27FC236}">
                <a16:creationId xmlns:a16="http://schemas.microsoft.com/office/drawing/2014/main" id="{D678AC0C-D1EA-47D8-8F3D-4D8AF8028AB4}"/>
              </a:ext>
            </a:extLst>
          </p:cNvPr>
          <p:cNvSpPr>
            <a:spLocks noGrp="1"/>
          </p:cNvSpPr>
          <p:nvPr/>
        </p:nvSpPr>
        <p:spPr>
          <a:xfrm>
            <a:off x="4857750" y="28003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Taupo Bowling Club - defibrillator</a:t>
            </a:r>
          </a:p>
        </p:txBody>
      </p:sp>
      <p:sp>
        <p:nvSpPr>
          <p:cNvPr id="22" name="year-5">
            <a:extLst>
              <a:ext uri="{FF2B5EF4-FFF2-40B4-BE49-F238E27FC236}">
                <a16:creationId xmlns:a16="http://schemas.microsoft.com/office/drawing/2014/main" id="{8FC96812-8DBE-427C-9E1E-41C682E8D472}"/>
              </a:ext>
            </a:extLst>
          </p:cNvPr>
          <p:cNvSpPr>
            <a:spLocks noGrp="1"/>
          </p:cNvSpPr>
          <p:nvPr/>
        </p:nvSpPr>
        <p:spPr>
          <a:xfrm>
            <a:off x="2905125" y="3133725"/>
            <a:ext cx="762000" cy="333375"/>
          </a:xfrm>
          <a:prstGeom prst="rect">
            <a:avLst/>
          </a:prstGeom>
          <a:solidFill>
            <a:srgbClr val="5B9BD5"/>
          </a:solidFill>
          <a:ln w="0">
            <a:noFill/>
            <a:prstDash val="solid"/>
          </a:ln>
        </p:spPr>
        <p:txBody>
          <a:bodyPr anchor="ctr"/>
          <a:lstStyle/>
          <a:p>
            <a:pPr algn="ctr">
              <a:defRPr sz="938" b="1">
                <a:solidFill>
                  <a:srgbClr val="FFFFFF"/>
                </a:solidFill>
              </a:defRPr>
            </a:pPr>
            <a:r>
              <a:rPr sz="938" b="1">
                <a:solidFill>
                  <a:srgbClr val="FFFFFF"/>
                </a:solidFill>
              </a:rPr>
              <a:t>2016</a:t>
            </a:r>
          </a:p>
        </p:txBody>
      </p:sp>
      <p:sp>
        <p:nvSpPr>
          <p:cNvPr id="23" name="total-5">
            <a:extLst>
              <a:ext uri="{FF2B5EF4-FFF2-40B4-BE49-F238E27FC236}">
                <a16:creationId xmlns:a16="http://schemas.microsoft.com/office/drawing/2014/main" id="{725AFF3A-C6E4-4856-8664-31E9D451D116}"/>
              </a:ext>
            </a:extLst>
          </p:cNvPr>
          <p:cNvSpPr>
            <a:spLocks noGrp="1"/>
          </p:cNvSpPr>
          <p:nvPr/>
        </p:nvSpPr>
        <p:spPr>
          <a:xfrm>
            <a:off x="3667125" y="31337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$1,739,194</a:t>
            </a:r>
          </a:p>
        </p:txBody>
      </p:sp>
      <p:sp>
        <p:nvSpPr>
          <p:cNvPr id="24" name="detail-5">
            <a:extLst>
              <a:ext uri="{FF2B5EF4-FFF2-40B4-BE49-F238E27FC236}">
                <a16:creationId xmlns:a16="http://schemas.microsoft.com/office/drawing/2014/main" id="{21C6A42B-6C99-4E85-B1A1-A2FB88431AB9}"/>
              </a:ext>
            </a:extLst>
          </p:cNvPr>
          <p:cNvSpPr>
            <a:spLocks noGrp="1"/>
          </p:cNvSpPr>
          <p:nvPr/>
        </p:nvSpPr>
        <p:spPr>
          <a:xfrm>
            <a:off x="4857750" y="31337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Chaplaincy training; emergency toiletry bags; youth aid equipment; two hospice syringe drivers</a:t>
            </a:r>
          </a:p>
        </p:txBody>
      </p:sp>
      <p:sp>
        <p:nvSpPr>
          <p:cNvPr id="25" name="year-6">
            <a:extLst>
              <a:ext uri="{FF2B5EF4-FFF2-40B4-BE49-F238E27FC236}">
                <a16:creationId xmlns:a16="http://schemas.microsoft.com/office/drawing/2014/main" id="{9F67DCC4-3021-48BE-8961-1CEF987B6A86}"/>
              </a:ext>
            </a:extLst>
          </p:cNvPr>
          <p:cNvSpPr>
            <a:spLocks noGrp="1"/>
          </p:cNvSpPr>
          <p:nvPr/>
        </p:nvSpPr>
        <p:spPr>
          <a:xfrm>
            <a:off x="2905125" y="3467100"/>
            <a:ext cx="762000" cy="333375"/>
          </a:xfrm>
          <a:prstGeom prst="rect">
            <a:avLst/>
          </a:prstGeom>
          <a:solidFill>
            <a:srgbClr val="FFC000"/>
          </a:solidFill>
          <a:ln w="0">
            <a:noFill/>
            <a:prstDash val="solid"/>
          </a:ln>
        </p:spPr>
        <p:txBody>
          <a:bodyPr anchor="ctr"/>
          <a:lstStyle/>
          <a:p>
            <a:pPr algn="ctr">
              <a:defRPr sz="938" b="1">
                <a:solidFill>
                  <a:srgbClr val="FFFFFF"/>
                </a:solidFill>
              </a:defRPr>
            </a:pPr>
            <a:r>
              <a:rPr sz="938" b="1">
                <a:solidFill>
                  <a:srgbClr val="FFFFFF"/>
                </a:solidFill>
              </a:rPr>
              <a:t>2014</a:t>
            </a:r>
          </a:p>
        </p:txBody>
      </p:sp>
      <p:sp>
        <p:nvSpPr>
          <p:cNvPr id="26" name="total-6">
            <a:extLst>
              <a:ext uri="{FF2B5EF4-FFF2-40B4-BE49-F238E27FC236}">
                <a16:creationId xmlns:a16="http://schemas.microsoft.com/office/drawing/2014/main" id="{3EB33EEF-C23A-4A5A-A067-9423D22FC82F}"/>
              </a:ext>
            </a:extLst>
          </p:cNvPr>
          <p:cNvSpPr>
            <a:spLocks noGrp="1"/>
          </p:cNvSpPr>
          <p:nvPr/>
        </p:nvSpPr>
        <p:spPr>
          <a:xfrm>
            <a:off x="3667125" y="346710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$1,728,155</a:t>
            </a:r>
          </a:p>
        </p:txBody>
      </p:sp>
      <p:sp>
        <p:nvSpPr>
          <p:cNvPr id="27" name="detail-6">
            <a:extLst>
              <a:ext uri="{FF2B5EF4-FFF2-40B4-BE49-F238E27FC236}">
                <a16:creationId xmlns:a16="http://schemas.microsoft.com/office/drawing/2014/main" id="{DC40AF5F-09AE-4937-ADDC-F981DBE7036B}"/>
              </a:ext>
            </a:extLst>
          </p:cNvPr>
          <p:cNvSpPr>
            <a:spLocks noGrp="1"/>
          </p:cNvSpPr>
          <p:nvPr/>
        </p:nvSpPr>
        <p:spPr>
          <a:xfrm>
            <a:off x="4857750" y="346710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Hospital redevelopment; two heat pumps; youth support; Tiny Tots gear; </a:t>
            </a:r>
            <a:r>
              <a:rPr sz="1100" b="0" dirty="0" err="1">
                <a:solidFill>
                  <a:srgbClr val="253746"/>
                </a:solidFill>
              </a:rPr>
              <a:t>immunisation</a:t>
            </a:r>
            <a:r>
              <a:rPr sz="1100" b="0" dirty="0">
                <a:solidFill>
                  <a:srgbClr val="253746"/>
                </a:solidFill>
              </a:rPr>
              <a:t> fridge</a:t>
            </a:r>
          </a:p>
        </p:txBody>
      </p:sp>
      <p:sp>
        <p:nvSpPr>
          <p:cNvPr id="28" name="year-7">
            <a:extLst>
              <a:ext uri="{FF2B5EF4-FFF2-40B4-BE49-F238E27FC236}">
                <a16:creationId xmlns:a16="http://schemas.microsoft.com/office/drawing/2014/main" id="{CD7E27E1-E1CD-439A-BF6D-F58999FF2BD2}"/>
              </a:ext>
            </a:extLst>
          </p:cNvPr>
          <p:cNvSpPr>
            <a:spLocks noGrp="1"/>
          </p:cNvSpPr>
          <p:nvPr/>
        </p:nvSpPr>
        <p:spPr>
          <a:xfrm>
            <a:off x="2905125" y="3800475"/>
            <a:ext cx="762000" cy="333375"/>
          </a:xfrm>
          <a:prstGeom prst="rect">
            <a:avLst/>
          </a:prstGeom>
          <a:solidFill>
            <a:srgbClr val="7030A0"/>
          </a:solidFill>
          <a:ln w="0">
            <a:noFill/>
            <a:prstDash val="solid"/>
          </a:ln>
        </p:spPr>
        <p:txBody>
          <a:bodyPr anchor="ctr"/>
          <a:lstStyle/>
          <a:p>
            <a:pPr algn="ctr">
              <a:defRPr sz="938" b="1">
                <a:solidFill>
                  <a:srgbClr val="FFFFFF"/>
                </a:solidFill>
              </a:defRPr>
            </a:pPr>
            <a:r>
              <a:rPr sz="938" b="1">
                <a:solidFill>
                  <a:srgbClr val="FFFFFF"/>
                </a:solidFill>
              </a:rPr>
              <a:t>2013</a:t>
            </a:r>
          </a:p>
        </p:txBody>
      </p:sp>
      <p:sp>
        <p:nvSpPr>
          <p:cNvPr id="29" name="total-7">
            <a:extLst>
              <a:ext uri="{FF2B5EF4-FFF2-40B4-BE49-F238E27FC236}">
                <a16:creationId xmlns:a16="http://schemas.microsoft.com/office/drawing/2014/main" id="{0F0645B8-2D86-4F13-A34A-AD73F6A2B6D3}"/>
              </a:ext>
            </a:extLst>
          </p:cNvPr>
          <p:cNvSpPr>
            <a:spLocks noGrp="1"/>
          </p:cNvSpPr>
          <p:nvPr/>
        </p:nvSpPr>
        <p:spPr>
          <a:xfrm>
            <a:off x="3667125" y="380047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$851,528</a:t>
            </a:r>
          </a:p>
        </p:txBody>
      </p:sp>
      <p:sp>
        <p:nvSpPr>
          <p:cNvPr id="30" name="detail-7">
            <a:extLst>
              <a:ext uri="{FF2B5EF4-FFF2-40B4-BE49-F238E27FC236}">
                <a16:creationId xmlns:a16="http://schemas.microsoft.com/office/drawing/2014/main" id="{5C254CC6-BBC3-4CF5-8D40-15A0D84A1215}"/>
              </a:ext>
            </a:extLst>
          </p:cNvPr>
          <p:cNvSpPr>
            <a:spLocks noGrp="1"/>
          </p:cNvSpPr>
          <p:nvPr/>
        </p:nvSpPr>
        <p:spPr>
          <a:xfrm>
            <a:off x="4857750" y="380047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Care-pack materials for the Taupo Volunteer Transport Group</a:t>
            </a:r>
          </a:p>
        </p:txBody>
      </p:sp>
      <p:sp>
        <p:nvSpPr>
          <p:cNvPr id="31" name="year-8">
            <a:extLst>
              <a:ext uri="{FF2B5EF4-FFF2-40B4-BE49-F238E27FC236}">
                <a16:creationId xmlns:a16="http://schemas.microsoft.com/office/drawing/2014/main" id="{24AB3717-4A16-4FBB-A178-C7FE7C769177}"/>
              </a:ext>
            </a:extLst>
          </p:cNvPr>
          <p:cNvSpPr>
            <a:spLocks noGrp="1"/>
          </p:cNvSpPr>
          <p:nvPr/>
        </p:nvSpPr>
        <p:spPr>
          <a:xfrm>
            <a:off x="2905125" y="4133850"/>
            <a:ext cx="762000" cy="333375"/>
          </a:xfrm>
          <a:prstGeom prst="rect">
            <a:avLst/>
          </a:prstGeom>
          <a:solidFill>
            <a:srgbClr val="B7B7B7"/>
          </a:solidFill>
          <a:ln w="0">
            <a:noFill/>
            <a:prstDash val="solid"/>
          </a:ln>
        </p:spPr>
        <p:txBody>
          <a:bodyPr anchor="ctr"/>
          <a:lstStyle/>
          <a:p>
            <a:pPr algn="ctr">
              <a:defRPr sz="938" b="1">
                <a:solidFill>
                  <a:srgbClr val="253746"/>
                </a:solidFill>
              </a:defRPr>
            </a:pPr>
            <a:r>
              <a:rPr sz="938" b="1">
                <a:solidFill>
                  <a:srgbClr val="253746"/>
                </a:solidFill>
              </a:rPr>
              <a:t>2012</a:t>
            </a:r>
          </a:p>
        </p:txBody>
      </p:sp>
      <p:sp>
        <p:nvSpPr>
          <p:cNvPr id="32" name="total-8">
            <a:extLst>
              <a:ext uri="{FF2B5EF4-FFF2-40B4-BE49-F238E27FC236}">
                <a16:creationId xmlns:a16="http://schemas.microsoft.com/office/drawing/2014/main" id="{64B8DFB2-2C0B-4A6C-916C-08A5AFEFE420}"/>
              </a:ext>
            </a:extLst>
          </p:cNvPr>
          <p:cNvSpPr>
            <a:spLocks noGrp="1"/>
          </p:cNvSpPr>
          <p:nvPr/>
        </p:nvSpPr>
        <p:spPr>
          <a:xfrm>
            <a:off x="3667125" y="413385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$846,528</a:t>
            </a:r>
          </a:p>
        </p:txBody>
      </p:sp>
      <p:sp>
        <p:nvSpPr>
          <p:cNvPr id="33" name="detail-8">
            <a:extLst>
              <a:ext uri="{FF2B5EF4-FFF2-40B4-BE49-F238E27FC236}">
                <a16:creationId xmlns:a16="http://schemas.microsoft.com/office/drawing/2014/main" id="{223AC4E2-F12B-41E6-A9D1-EF81B2C57FED}"/>
              </a:ext>
            </a:extLst>
          </p:cNvPr>
          <p:cNvSpPr>
            <a:spLocks noGrp="1"/>
          </p:cNvSpPr>
          <p:nvPr/>
        </p:nvSpPr>
        <p:spPr>
          <a:xfrm>
            <a:off x="4857750" y="41338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Care toiletry packs; Volunteer Transport Group; Community Gardens; insulin pump</a:t>
            </a:r>
          </a:p>
        </p:txBody>
      </p:sp>
      <p:sp>
        <p:nvSpPr>
          <p:cNvPr id="34" name="year-9">
            <a:extLst>
              <a:ext uri="{FF2B5EF4-FFF2-40B4-BE49-F238E27FC236}">
                <a16:creationId xmlns:a16="http://schemas.microsoft.com/office/drawing/2014/main" id="{A4469604-F68D-412A-B093-C2295810B31C}"/>
              </a:ext>
            </a:extLst>
          </p:cNvPr>
          <p:cNvSpPr>
            <a:spLocks noGrp="1"/>
          </p:cNvSpPr>
          <p:nvPr/>
        </p:nvSpPr>
        <p:spPr>
          <a:xfrm>
            <a:off x="2905125" y="4467225"/>
            <a:ext cx="762000" cy="333375"/>
          </a:xfrm>
          <a:prstGeom prst="rect">
            <a:avLst/>
          </a:prstGeom>
          <a:solidFill>
            <a:srgbClr val="86C2D1"/>
          </a:solidFill>
          <a:ln w="0">
            <a:noFill/>
            <a:prstDash val="solid"/>
          </a:ln>
        </p:spPr>
        <p:txBody>
          <a:bodyPr anchor="ctr"/>
          <a:lstStyle/>
          <a:p>
            <a:pPr algn="ctr">
              <a:defRPr sz="938" b="1">
                <a:solidFill>
                  <a:srgbClr val="FFFFFF"/>
                </a:solidFill>
              </a:defRPr>
            </a:pPr>
            <a:r>
              <a:rPr sz="938" b="1">
                <a:solidFill>
                  <a:srgbClr val="FFFFFF"/>
                </a:solidFill>
              </a:rPr>
              <a:t>2011</a:t>
            </a:r>
          </a:p>
        </p:txBody>
      </p:sp>
      <p:sp>
        <p:nvSpPr>
          <p:cNvPr id="35" name="total-9">
            <a:extLst>
              <a:ext uri="{FF2B5EF4-FFF2-40B4-BE49-F238E27FC236}">
                <a16:creationId xmlns:a16="http://schemas.microsoft.com/office/drawing/2014/main" id="{83E17CC3-3994-4668-ADC4-AAB10FA51903}"/>
              </a:ext>
            </a:extLst>
          </p:cNvPr>
          <p:cNvSpPr>
            <a:spLocks noGrp="1"/>
          </p:cNvSpPr>
          <p:nvPr/>
        </p:nvSpPr>
        <p:spPr>
          <a:xfrm>
            <a:off x="3667125" y="44672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$826,519</a:t>
            </a:r>
          </a:p>
        </p:txBody>
      </p:sp>
      <p:sp>
        <p:nvSpPr>
          <p:cNvPr id="36" name="detail-9">
            <a:extLst>
              <a:ext uri="{FF2B5EF4-FFF2-40B4-BE49-F238E27FC236}">
                <a16:creationId xmlns:a16="http://schemas.microsoft.com/office/drawing/2014/main" id="{E0EEF775-3132-4976-9A0C-762DF2F632CB}"/>
              </a:ext>
            </a:extLst>
          </p:cNvPr>
          <p:cNvSpPr>
            <a:spLocks noGrp="1"/>
          </p:cNvSpPr>
          <p:nvPr/>
        </p:nvSpPr>
        <p:spPr>
          <a:xfrm>
            <a:off x="4857750" y="44672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Dental X-ray viewers; youth health; insulin pump; care packs; tracking kits; cancer lodge; senior exercise</a:t>
            </a:r>
          </a:p>
        </p:txBody>
      </p:sp>
      <p:sp>
        <p:nvSpPr>
          <p:cNvPr id="37" name="year-10">
            <a:extLst>
              <a:ext uri="{FF2B5EF4-FFF2-40B4-BE49-F238E27FC236}">
                <a16:creationId xmlns:a16="http://schemas.microsoft.com/office/drawing/2014/main" id="{303BAF2F-8C67-4274-9DD5-C4EABD88EA6A}"/>
              </a:ext>
            </a:extLst>
          </p:cNvPr>
          <p:cNvSpPr>
            <a:spLocks noGrp="1"/>
          </p:cNvSpPr>
          <p:nvPr/>
        </p:nvSpPr>
        <p:spPr>
          <a:xfrm>
            <a:off x="2905125" y="4800600"/>
            <a:ext cx="762000" cy="333375"/>
          </a:xfrm>
          <a:prstGeom prst="rect">
            <a:avLst/>
          </a:prstGeom>
          <a:solidFill>
            <a:srgbClr val="FFF200"/>
          </a:solidFill>
          <a:ln w="0">
            <a:noFill/>
            <a:prstDash val="solid"/>
          </a:ln>
        </p:spPr>
        <p:txBody>
          <a:bodyPr anchor="ctr"/>
          <a:lstStyle/>
          <a:p>
            <a:pPr algn="ctr">
              <a:defRPr sz="938" b="1">
                <a:solidFill>
                  <a:srgbClr val="253746"/>
                </a:solidFill>
              </a:defRPr>
            </a:pPr>
            <a:r>
              <a:rPr sz="938" b="1">
                <a:solidFill>
                  <a:srgbClr val="253746"/>
                </a:solidFill>
              </a:rPr>
              <a:t>2010</a:t>
            </a:r>
          </a:p>
        </p:txBody>
      </p:sp>
      <p:sp>
        <p:nvSpPr>
          <p:cNvPr id="38" name="total-10">
            <a:extLst>
              <a:ext uri="{FF2B5EF4-FFF2-40B4-BE49-F238E27FC236}">
                <a16:creationId xmlns:a16="http://schemas.microsoft.com/office/drawing/2014/main" id="{319CAC53-69EC-424D-9E65-BFB19E7A70B1}"/>
              </a:ext>
            </a:extLst>
          </p:cNvPr>
          <p:cNvSpPr>
            <a:spLocks noGrp="1"/>
          </p:cNvSpPr>
          <p:nvPr/>
        </p:nvSpPr>
        <p:spPr>
          <a:xfrm>
            <a:off x="3667125" y="480060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$771,253</a:t>
            </a:r>
          </a:p>
        </p:txBody>
      </p:sp>
      <p:sp>
        <p:nvSpPr>
          <p:cNvPr id="39" name="detail-10">
            <a:extLst>
              <a:ext uri="{FF2B5EF4-FFF2-40B4-BE49-F238E27FC236}">
                <a16:creationId xmlns:a16="http://schemas.microsoft.com/office/drawing/2014/main" id="{9B0661A8-D06A-4ADF-9CC6-3872820B368F}"/>
              </a:ext>
            </a:extLst>
          </p:cNvPr>
          <p:cNvSpPr>
            <a:spLocks noGrp="1"/>
          </p:cNvSpPr>
          <p:nvPr/>
        </p:nvSpPr>
        <p:spPr>
          <a:xfrm>
            <a:off x="4857750" y="480060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Taupo Volunteer Transport Group; hospital reclining lift chairs</a:t>
            </a:r>
          </a:p>
        </p:txBody>
      </p:sp>
      <p:sp>
        <p:nvSpPr>
          <p:cNvPr id="40" name="year-11">
            <a:extLst>
              <a:ext uri="{FF2B5EF4-FFF2-40B4-BE49-F238E27FC236}">
                <a16:creationId xmlns:a16="http://schemas.microsoft.com/office/drawing/2014/main" id="{2C02F1F4-D614-4735-91DD-0F44FA0CA438}"/>
              </a:ext>
            </a:extLst>
          </p:cNvPr>
          <p:cNvSpPr>
            <a:spLocks noGrp="1"/>
          </p:cNvSpPr>
          <p:nvPr/>
        </p:nvSpPr>
        <p:spPr>
          <a:xfrm>
            <a:off x="2905125" y="5133975"/>
            <a:ext cx="762000" cy="333375"/>
          </a:xfrm>
          <a:prstGeom prst="rect">
            <a:avLst/>
          </a:prstGeom>
          <a:solidFill>
            <a:srgbClr val="5B9BD5"/>
          </a:solidFill>
          <a:ln w="0">
            <a:noFill/>
            <a:prstDash val="solid"/>
          </a:ln>
        </p:spPr>
        <p:txBody>
          <a:bodyPr anchor="ctr"/>
          <a:lstStyle/>
          <a:p>
            <a:pPr algn="ctr">
              <a:defRPr sz="938" b="1">
                <a:solidFill>
                  <a:srgbClr val="FFFFFF"/>
                </a:solidFill>
              </a:defRPr>
            </a:pPr>
            <a:r>
              <a:rPr sz="938" b="1">
                <a:solidFill>
                  <a:srgbClr val="FFFFFF"/>
                </a:solidFill>
              </a:rPr>
              <a:t>2009</a:t>
            </a:r>
          </a:p>
        </p:txBody>
      </p:sp>
      <p:sp>
        <p:nvSpPr>
          <p:cNvPr id="41" name="total-11">
            <a:extLst>
              <a:ext uri="{FF2B5EF4-FFF2-40B4-BE49-F238E27FC236}">
                <a16:creationId xmlns:a16="http://schemas.microsoft.com/office/drawing/2014/main" id="{3E8D402A-4B19-450E-AC78-AFFBA21268E2}"/>
              </a:ext>
            </a:extLst>
          </p:cNvPr>
          <p:cNvSpPr>
            <a:spLocks noGrp="1"/>
          </p:cNvSpPr>
          <p:nvPr/>
        </p:nvSpPr>
        <p:spPr>
          <a:xfrm>
            <a:off x="3667125" y="513397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$743,975</a:t>
            </a:r>
          </a:p>
        </p:txBody>
      </p:sp>
      <p:sp>
        <p:nvSpPr>
          <p:cNvPr id="42" name="detail-11">
            <a:extLst>
              <a:ext uri="{FF2B5EF4-FFF2-40B4-BE49-F238E27FC236}">
                <a16:creationId xmlns:a16="http://schemas.microsoft.com/office/drawing/2014/main" id="{3F822E7C-01E8-4D09-9655-E9BA919165B7}"/>
              </a:ext>
            </a:extLst>
          </p:cNvPr>
          <p:cNvSpPr>
            <a:spLocks noGrp="1"/>
          </p:cNvSpPr>
          <p:nvPr/>
        </p:nvSpPr>
        <p:spPr>
          <a:xfrm>
            <a:off x="4857750" y="513397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Diabetes consumables; glucose monitor; rescue helicopter defibrillator</a:t>
            </a:r>
          </a:p>
        </p:txBody>
      </p:sp>
      <p:sp>
        <p:nvSpPr>
          <p:cNvPr id="43" name="year-12">
            <a:extLst>
              <a:ext uri="{FF2B5EF4-FFF2-40B4-BE49-F238E27FC236}">
                <a16:creationId xmlns:a16="http://schemas.microsoft.com/office/drawing/2014/main" id="{83405146-F662-4124-B991-B27234A953A8}"/>
              </a:ext>
            </a:extLst>
          </p:cNvPr>
          <p:cNvSpPr>
            <a:spLocks noGrp="1"/>
          </p:cNvSpPr>
          <p:nvPr/>
        </p:nvSpPr>
        <p:spPr>
          <a:xfrm>
            <a:off x="2905125" y="5467350"/>
            <a:ext cx="762000" cy="333375"/>
          </a:xfrm>
          <a:prstGeom prst="rect">
            <a:avLst/>
          </a:prstGeom>
          <a:solidFill>
            <a:srgbClr val="E57200"/>
          </a:solidFill>
          <a:ln w="0">
            <a:noFill/>
            <a:prstDash val="solid"/>
          </a:ln>
        </p:spPr>
        <p:txBody>
          <a:bodyPr anchor="ctr"/>
          <a:lstStyle/>
          <a:p>
            <a:pPr algn="ctr">
              <a:defRPr sz="938" b="1">
                <a:solidFill>
                  <a:srgbClr val="FFFFFF"/>
                </a:solidFill>
              </a:defRPr>
            </a:pPr>
            <a:r>
              <a:rPr sz="938" b="1">
                <a:solidFill>
                  <a:srgbClr val="FFFFFF"/>
                </a:solidFill>
              </a:rPr>
              <a:t>2008</a:t>
            </a:r>
          </a:p>
        </p:txBody>
      </p:sp>
      <p:sp>
        <p:nvSpPr>
          <p:cNvPr id="44" name="total-12">
            <a:extLst>
              <a:ext uri="{FF2B5EF4-FFF2-40B4-BE49-F238E27FC236}">
                <a16:creationId xmlns:a16="http://schemas.microsoft.com/office/drawing/2014/main" id="{E2146628-A235-4F3C-947A-987CA73F46DF}"/>
              </a:ext>
            </a:extLst>
          </p:cNvPr>
          <p:cNvSpPr>
            <a:spLocks noGrp="1"/>
          </p:cNvSpPr>
          <p:nvPr/>
        </p:nvSpPr>
        <p:spPr>
          <a:xfrm>
            <a:off x="3667125" y="5467350"/>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$718,563</a:t>
            </a:r>
          </a:p>
        </p:txBody>
      </p:sp>
      <p:sp>
        <p:nvSpPr>
          <p:cNvPr id="45" name="detail-12">
            <a:extLst>
              <a:ext uri="{FF2B5EF4-FFF2-40B4-BE49-F238E27FC236}">
                <a16:creationId xmlns:a16="http://schemas.microsoft.com/office/drawing/2014/main" id="{BD3FD552-4178-47E4-9DE8-319AE5AF08AC}"/>
              </a:ext>
            </a:extLst>
          </p:cNvPr>
          <p:cNvSpPr>
            <a:spLocks noGrp="1"/>
          </p:cNvSpPr>
          <p:nvPr/>
        </p:nvSpPr>
        <p:spPr>
          <a:xfrm>
            <a:off x="4857750" y="5467350"/>
            <a:ext cx="6762750" cy="333375"/>
          </a:xfrm>
          <a:prstGeom prst="rect">
            <a:avLst/>
          </a:prstGeom>
          <a:solidFill>
            <a:srgbClr val="FFFFFF"/>
          </a:solidFill>
          <a:ln w="0">
            <a:noFill/>
            <a:prstDash val="solid"/>
          </a:ln>
        </p:spPr>
        <p:txBody>
          <a:bodyPr anchor="ctr"/>
          <a:lstStyle/>
          <a:p>
            <a:pPr algn="l">
              <a:defRPr sz="840" b="0">
                <a:solidFill>
                  <a:srgbClr val="253746"/>
                </a:solidFill>
              </a:defRPr>
            </a:pPr>
            <a:r>
              <a:rPr sz="1100" b="0" dirty="0">
                <a:solidFill>
                  <a:srgbClr val="253746"/>
                </a:solidFill>
              </a:rPr>
              <a:t>Rescue bag and blanket; two hospice Archimedes bath lifters</a:t>
            </a:r>
          </a:p>
        </p:txBody>
      </p:sp>
      <p:sp>
        <p:nvSpPr>
          <p:cNvPr id="46" name="year-13">
            <a:extLst>
              <a:ext uri="{FF2B5EF4-FFF2-40B4-BE49-F238E27FC236}">
                <a16:creationId xmlns:a16="http://schemas.microsoft.com/office/drawing/2014/main" id="{351D7E36-4FD1-446B-953C-25957DAF3014}"/>
              </a:ext>
            </a:extLst>
          </p:cNvPr>
          <p:cNvSpPr>
            <a:spLocks noGrp="1"/>
          </p:cNvSpPr>
          <p:nvPr/>
        </p:nvSpPr>
        <p:spPr>
          <a:xfrm>
            <a:off x="2905125" y="5800725"/>
            <a:ext cx="762000" cy="333375"/>
          </a:xfrm>
          <a:prstGeom prst="rect">
            <a:avLst/>
          </a:prstGeom>
          <a:solidFill>
            <a:srgbClr val="8CCB4B"/>
          </a:solidFill>
          <a:ln w="0">
            <a:noFill/>
            <a:prstDash val="solid"/>
          </a:ln>
        </p:spPr>
        <p:txBody>
          <a:bodyPr anchor="ctr"/>
          <a:lstStyle/>
          <a:p>
            <a:pPr algn="ctr">
              <a:defRPr sz="938" b="1">
                <a:solidFill>
                  <a:srgbClr val="FFFFFF"/>
                </a:solidFill>
              </a:defRPr>
            </a:pPr>
            <a:r>
              <a:rPr sz="938" b="1">
                <a:solidFill>
                  <a:srgbClr val="FFFFFF"/>
                </a:solidFill>
              </a:rPr>
              <a:t>2007</a:t>
            </a:r>
          </a:p>
        </p:txBody>
      </p:sp>
      <p:sp>
        <p:nvSpPr>
          <p:cNvPr id="47" name="total-13">
            <a:extLst>
              <a:ext uri="{FF2B5EF4-FFF2-40B4-BE49-F238E27FC236}">
                <a16:creationId xmlns:a16="http://schemas.microsoft.com/office/drawing/2014/main" id="{9429D3C7-0E75-4885-9BB5-16BE123D20FD}"/>
              </a:ext>
            </a:extLst>
          </p:cNvPr>
          <p:cNvSpPr>
            <a:spLocks noGrp="1"/>
          </p:cNvSpPr>
          <p:nvPr/>
        </p:nvSpPr>
        <p:spPr>
          <a:xfrm>
            <a:off x="3667125" y="5800725"/>
            <a:ext cx="1190625" cy="333375"/>
          </a:xfrm>
          <a:prstGeom prst="rect">
            <a:avLst/>
          </a:prstGeom>
          <a:solidFill>
            <a:srgbClr val="EAF1F5"/>
          </a:solidFill>
          <a:ln w="0">
            <a:noFill/>
            <a:prstDash val="solid"/>
          </a:ln>
        </p:spPr>
        <p:txBody>
          <a:bodyPr anchor="ctr"/>
          <a:lstStyle/>
          <a:p>
            <a:pPr algn="r">
              <a:defRPr sz="938" b="1">
                <a:solidFill>
                  <a:srgbClr val="123B68"/>
                </a:solidFill>
              </a:defRPr>
            </a:pPr>
            <a:r>
              <a:rPr sz="1100" b="1">
                <a:solidFill>
                  <a:srgbClr val="123B68"/>
                </a:solidFill>
              </a:rPr>
              <a:t>$705,741</a:t>
            </a:r>
          </a:p>
        </p:txBody>
      </p:sp>
      <p:sp>
        <p:nvSpPr>
          <p:cNvPr id="48" name="detail-13">
            <a:extLst>
              <a:ext uri="{FF2B5EF4-FFF2-40B4-BE49-F238E27FC236}">
                <a16:creationId xmlns:a16="http://schemas.microsoft.com/office/drawing/2014/main" id="{EFE0CF29-995F-4318-A616-59313CE65460}"/>
              </a:ext>
            </a:extLst>
          </p:cNvPr>
          <p:cNvSpPr>
            <a:spLocks noGrp="1"/>
          </p:cNvSpPr>
          <p:nvPr/>
        </p:nvSpPr>
        <p:spPr>
          <a:xfrm>
            <a:off x="4857750" y="5800725"/>
            <a:ext cx="6762750" cy="333375"/>
          </a:xfrm>
          <a:prstGeom prst="rect">
            <a:avLst/>
          </a:prstGeom>
          <a:solidFill>
            <a:srgbClr val="F3F7F9"/>
          </a:solidFill>
          <a:ln w="0">
            <a:noFill/>
            <a:prstDash val="solid"/>
          </a:ln>
        </p:spPr>
        <p:txBody>
          <a:bodyPr anchor="ctr"/>
          <a:lstStyle/>
          <a:p>
            <a:pPr algn="l">
              <a:defRPr sz="840" b="0">
                <a:solidFill>
                  <a:srgbClr val="253746"/>
                </a:solidFill>
              </a:defRPr>
            </a:pPr>
            <a:r>
              <a:rPr sz="1100" b="0" dirty="0">
                <a:solidFill>
                  <a:srgbClr val="253746"/>
                </a:solidFill>
              </a:rPr>
              <a:t>Total value of equipment and grants since 1993</a:t>
            </a:r>
          </a:p>
        </p:txBody>
      </p:sp>
    </p:spTree>
    <p:extLst>
      <p:ext uri="{BB962C8B-B14F-4D97-AF65-F5344CB8AC3E}">
        <p14:creationId xmlns:p14="http://schemas.microsoft.com/office/powerpoint/2010/main" val="748934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8" descr="A group of people holding a large check&#10;&#10;AI-generated content may be incorrect.">
            <a:extLst>
              <a:ext uri="{FF2B5EF4-FFF2-40B4-BE49-F238E27FC236}">
                <a16:creationId xmlns:a16="http://schemas.microsoft.com/office/drawing/2014/main" id="{45876503-50A0-6345-CDC4-24BB759520B1}"/>
              </a:ext>
            </a:extLst>
          </p:cNvPr>
          <p:cNvPicPr>
            <a:picLocks noChangeAspect="1"/>
          </p:cNvPicPr>
          <p:nvPr/>
        </p:nvPicPr>
        <p:blipFill>
          <a:blip r:embed="rId2">
            <a:alphaModFix amt="73000"/>
            <a:extLst>
              <a:ext uri="{28A0092B-C50C-407E-A947-70E740481C1C}">
                <a14:useLocalDpi xmlns:a14="http://schemas.microsoft.com/office/drawing/2010/main" val="0"/>
              </a:ext>
            </a:extLst>
          </a:blip>
          <a:stretch>
            <a:fillRect/>
          </a:stretch>
        </p:blipFill>
        <p:spPr>
          <a:xfrm>
            <a:off x="1174282" y="712269"/>
            <a:ext cx="9509761" cy="5734823"/>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2" name="title">
            <a:extLst>
              <a:ext uri="{FF2B5EF4-FFF2-40B4-BE49-F238E27FC236}">
                <a16:creationId xmlns:a16="http://schemas.microsoft.com/office/drawing/2014/main" id="{97C85CAB-39CA-FC8C-031C-2D9AC17B18A3}"/>
              </a:ext>
            </a:extLst>
          </p:cNvPr>
          <p:cNvSpPr>
            <a:spLocks noGrp="1"/>
          </p:cNvSpPr>
          <p:nvPr/>
        </p:nvSpPr>
        <p:spPr>
          <a:xfrm>
            <a:off x="571500" y="285750"/>
            <a:ext cx="11077575" cy="523875"/>
          </a:xfrm>
          <a:prstGeom prst="rect">
            <a:avLst/>
          </a:prstGeom>
          <a:noFill/>
          <a:ln w="0">
            <a:noFill/>
            <a:prstDash val="solid"/>
          </a:ln>
        </p:spPr>
        <p:txBody>
          <a:bodyPr anchor="ctr"/>
          <a:lstStyle/>
          <a:p>
            <a:pPr algn="ctr">
              <a:defRPr sz="2550" b="1">
                <a:solidFill>
                  <a:srgbClr val="123B68"/>
                </a:solidFill>
              </a:defRPr>
            </a:pPr>
            <a:r>
              <a:rPr lang="en-NZ" sz="2550" b="1" dirty="0">
                <a:solidFill>
                  <a:srgbClr val="123B68"/>
                </a:solidFill>
              </a:rPr>
              <a:t>SUCCESSES</a:t>
            </a:r>
            <a:endParaRPr sz="2550" b="1" dirty="0">
              <a:solidFill>
                <a:srgbClr val="123B68"/>
              </a:solidFill>
            </a:endParaRPr>
          </a:p>
        </p:txBody>
      </p:sp>
    </p:spTree>
    <p:extLst>
      <p:ext uri="{BB962C8B-B14F-4D97-AF65-F5344CB8AC3E}">
        <p14:creationId xmlns:p14="http://schemas.microsoft.com/office/powerpoint/2010/main" val="4035682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626441"/>
            <a:ext cx="11709008" cy="9437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517486" y="1587711"/>
            <a:ext cx="11503357" cy="707886"/>
          </a:xfrm>
          <a:prstGeom prst="rect">
            <a:avLst/>
          </a:prstGeom>
          <a:noFill/>
        </p:spPr>
        <p:txBody>
          <a:bodyPr wrap="square" rtlCol="0">
            <a:spAutoFit/>
          </a:bodyPr>
          <a:lstStyle/>
          <a:p>
            <a:pPr algn="ctr"/>
            <a:r>
              <a:rPr lang="en-NZ" sz="4000" b="1" dirty="0">
                <a:solidFill>
                  <a:schemeClr val="bg1"/>
                </a:solidFill>
              </a:rPr>
              <a:t>Our Projects /</a:t>
            </a:r>
            <a:r>
              <a:rPr lang="en-NZ" sz="4000" dirty="0">
                <a:solidFill>
                  <a:schemeClr val="bg1">
                    <a:alpha val="45000"/>
                  </a:schemeClr>
                </a:solidFill>
              </a:rPr>
              <a:t>Ā </a:t>
            </a:r>
            <a:r>
              <a:rPr lang="en-NZ" sz="4000" dirty="0" err="1">
                <a:solidFill>
                  <a:schemeClr val="bg1">
                    <a:alpha val="45000"/>
                  </a:schemeClr>
                </a:solidFill>
              </a:rPr>
              <a:t>mātou</a:t>
            </a:r>
            <a:r>
              <a:rPr lang="en-NZ" sz="4000" dirty="0">
                <a:solidFill>
                  <a:schemeClr val="bg1">
                    <a:alpha val="45000"/>
                  </a:schemeClr>
                </a:solidFill>
              </a:rPr>
              <a:t> </a:t>
            </a:r>
            <a:r>
              <a:rPr lang="en-NZ" sz="4000" dirty="0" err="1">
                <a:solidFill>
                  <a:schemeClr val="bg1">
                    <a:alpha val="45000"/>
                  </a:schemeClr>
                </a:solidFill>
              </a:rPr>
              <a:t>kaupapa</a:t>
            </a:r>
            <a:endParaRPr lang="en-NZ" sz="4000" dirty="0">
              <a:solidFill>
                <a:schemeClr val="bg1">
                  <a:alpha val="45000"/>
                </a:schemeClr>
              </a:solidFill>
            </a:endParaRPr>
          </a:p>
        </p:txBody>
      </p:sp>
      <p:sp>
        <p:nvSpPr>
          <p:cNvPr id="3" name="TextBox 2">
            <a:extLst>
              <a:ext uri="{FF2B5EF4-FFF2-40B4-BE49-F238E27FC236}">
                <a16:creationId xmlns:a16="http://schemas.microsoft.com/office/drawing/2014/main" id="{34F70417-83CE-792F-E331-004336565525}"/>
              </a:ext>
            </a:extLst>
          </p:cNvPr>
          <p:cNvSpPr txBox="1"/>
          <p:nvPr/>
        </p:nvSpPr>
        <p:spPr>
          <a:xfrm>
            <a:off x="2073329" y="3076741"/>
            <a:ext cx="4826845" cy="3416320"/>
          </a:xfrm>
          <a:prstGeom prst="rect">
            <a:avLst/>
          </a:prstGeom>
          <a:noFill/>
        </p:spPr>
        <p:txBody>
          <a:bodyPr wrap="square" rtlCol="0">
            <a:spAutoFit/>
          </a:bodyPr>
          <a:lstStyle/>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pPr algn="l"/>
            <a:endParaRPr lang="en-NZ" dirty="0"/>
          </a:p>
          <a:p>
            <a:endParaRPr lang="en-NZ" dirty="0"/>
          </a:p>
        </p:txBody>
      </p:sp>
      <p:pic>
        <p:nvPicPr>
          <p:cNvPr id="5" name="Picture 4">
            <a:extLst>
              <a:ext uri="{FF2B5EF4-FFF2-40B4-BE49-F238E27FC236}">
                <a16:creationId xmlns:a16="http://schemas.microsoft.com/office/drawing/2014/main" id="{1BD23E5B-CE51-5E84-A302-4F22C2952C64}"/>
              </a:ext>
            </a:extLst>
          </p:cNvPr>
          <p:cNvPicPr>
            <a:picLocks noChangeAspect="1"/>
          </p:cNvPicPr>
          <p:nvPr/>
        </p:nvPicPr>
        <p:blipFill>
          <a:blip r:embed="rId3"/>
          <a:stretch>
            <a:fillRect/>
          </a:stretch>
        </p:blipFill>
        <p:spPr>
          <a:xfrm>
            <a:off x="241496" y="154909"/>
            <a:ext cx="11553002" cy="1378191"/>
          </a:xfrm>
          <a:prstGeom prst="rect">
            <a:avLst/>
          </a:prstGeom>
        </p:spPr>
      </p:pic>
      <p:sp>
        <p:nvSpPr>
          <p:cNvPr id="6" name="title">
            <a:extLst>
              <a:ext uri="{FF2B5EF4-FFF2-40B4-BE49-F238E27FC236}">
                <a16:creationId xmlns:a16="http://schemas.microsoft.com/office/drawing/2014/main" id="{002F26DF-DDED-23EF-5086-ED3BCC4A0131}"/>
              </a:ext>
            </a:extLst>
          </p:cNvPr>
          <p:cNvSpPr>
            <a:spLocks noGrp="1"/>
          </p:cNvSpPr>
          <p:nvPr/>
        </p:nvSpPr>
        <p:spPr>
          <a:xfrm>
            <a:off x="4393470" y="2872417"/>
            <a:ext cx="3260946" cy="494320"/>
          </a:xfrm>
          <a:prstGeom prst="rect">
            <a:avLst/>
          </a:prstGeom>
          <a:ln w="76200"/>
        </p:spPr>
        <p:style>
          <a:lnRef idx="2">
            <a:schemeClr val="accent1"/>
          </a:lnRef>
          <a:fillRef idx="1">
            <a:schemeClr val="lt1"/>
          </a:fillRef>
          <a:effectRef idx="0">
            <a:schemeClr val="accent1"/>
          </a:effectRef>
          <a:fontRef idx="minor">
            <a:schemeClr val="dk1"/>
          </a:fontRef>
        </p:style>
        <p:txBody>
          <a:bodyPr anchor="ctr"/>
          <a:lstStyle/>
          <a:p>
            <a:pPr algn="ctr">
              <a:defRPr sz="2550" b="1">
                <a:solidFill>
                  <a:srgbClr val="123B68"/>
                </a:solidFill>
              </a:defRPr>
            </a:pPr>
            <a:r>
              <a:rPr lang="en-NZ" sz="2550" b="1" dirty="0">
                <a:solidFill>
                  <a:srgbClr val="92D050"/>
                </a:solidFill>
              </a:rPr>
              <a:t>TESTIMONIALS</a:t>
            </a:r>
            <a:endParaRPr sz="2550" b="1" dirty="0">
              <a:solidFill>
                <a:srgbClr val="92D050"/>
              </a:solidFill>
            </a:endParaRPr>
          </a:p>
        </p:txBody>
      </p:sp>
      <p:pic>
        <p:nvPicPr>
          <p:cNvPr id="29" name="Picture 28">
            <a:extLst>
              <a:ext uri="{FF2B5EF4-FFF2-40B4-BE49-F238E27FC236}">
                <a16:creationId xmlns:a16="http://schemas.microsoft.com/office/drawing/2014/main" id="{8FCBF27A-49DC-9725-496F-289CEB48CF07}"/>
              </a:ext>
            </a:extLst>
          </p:cNvPr>
          <p:cNvPicPr>
            <a:picLocks noChangeAspect="1"/>
          </p:cNvPicPr>
          <p:nvPr/>
        </p:nvPicPr>
        <p:blipFill>
          <a:blip r:embed="rId4"/>
          <a:stretch>
            <a:fillRect/>
          </a:stretch>
        </p:blipFill>
        <p:spPr>
          <a:xfrm>
            <a:off x="6091237" y="3419473"/>
            <a:ext cx="9526" cy="19053"/>
          </a:xfrm>
          <a:prstGeom prst="rect">
            <a:avLst/>
          </a:prstGeom>
        </p:spPr>
      </p:pic>
      <p:pic>
        <p:nvPicPr>
          <p:cNvPr id="31" name="Picture 30">
            <a:extLst>
              <a:ext uri="{FF2B5EF4-FFF2-40B4-BE49-F238E27FC236}">
                <a16:creationId xmlns:a16="http://schemas.microsoft.com/office/drawing/2014/main" id="{B4459A61-931D-59CD-7E0A-41D29D70C8ED}"/>
              </a:ext>
            </a:extLst>
          </p:cNvPr>
          <p:cNvPicPr>
            <a:picLocks noChangeAspect="1"/>
          </p:cNvPicPr>
          <p:nvPr/>
        </p:nvPicPr>
        <p:blipFill>
          <a:blip r:embed="rId4"/>
          <a:stretch>
            <a:fillRect/>
          </a:stretch>
        </p:blipFill>
        <p:spPr>
          <a:xfrm>
            <a:off x="6091237" y="3419473"/>
            <a:ext cx="9526" cy="19053"/>
          </a:xfrm>
          <a:prstGeom prst="rect">
            <a:avLst/>
          </a:prstGeom>
        </p:spPr>
      </p:pic>
      <p:pic>
        <p:nvPicPr>
          <p:cNvPr id="33" name="Picture 32">
            <a:extLst>
              <a:ext uri="{FF2B5EF4-FFF2-40B4-BE49-F238E27FC236}">
                <a16:creationId xmlns:a16="http://schemas.microsoft.com/office/drawing/2014/main" id="{845CAF87-B191-53D2-C4C4-728DAAC974D4}"/>
              </a:ext>
            </a:extLst>
          </p:cNvPr>
          <p:cNvPicPr>
            <a:picLocks noChangeAspect="1"/>
          </p:cNvPicPr>
          <p:nvPr/>
        </p:nvPicPr>
        <p:blipFill>
          <a:blip r:embed="rId5"/>
          <a:stretch>
            <a:fillRect/>
          </a:stretch>
        </p:blipFill>
        <p:spPr>
          <a:xfrm>
            <a:off x="101187" y="5158718"/>
            <a:ext cx="1470157" cy="11494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5" name="Picture 34">
            <a:extLst>
              <a:ext uri="{FF2B5EF4-FFF2-40B4-BE49-F238E27FC236}">
                <a16:creationId xmlns:a16="http://schemas.microsoft.com/office/drawing/2014/main" id="{D281A980-6364-C993-8B3C-CE980DA9681A}"/>
              </a:ext>
            </a:extLst>
          </p:cNvPr>
          <p:cNvPicPr>
            <a:picLocks noChangeAspect="1"/>
          </p:cNvPicPr>
          <p:nvPr/>
        </p:nvPicPr>
        <p:blipFill>
          <a:blip r:embed="rId6"/>
          <a:stretch>
            <a:fillRect/>
          </a:stretch>
        </p:blipFill>
        <p:spPr>
          <a:xfrm>
            <a:off x="1654835" y="5152665"/>
            <a:ext cx="1227430" cy="11494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7" name="Picture 36">
            <a:extLst>
              <a:ext uri="{FF2B5EF4-FFF2-40B4-BE49-F238E27FC236}">
                <a16:creationId xmlns:a16="http://schemas.microsoft.com/office/drawing/2014/main" id="{9558F117-7A6D-8EE3-C853-EDEEF82FF7C9}"/>
              </a:ext>
            </a:extLst>
          </p:cNvPr>
          <p:cNvPicPr>
            <a:picLocks noChangeAspect="1"/>
          </p:cNvPicPr>
          <p:nvPr/>
        </p:nvPicPr>
        <p:blipFill>
          <a:blip r:embed="rId7"/>
          <a:stretch>
            <a:fillRect/>
          </a:stretch>
        </p:blipFill>
        <p:spPr>
          <a:xfrm>
            <a:off x="10586664" y="5206508"/>
            <a:ext cx="1068198" cy="10951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3" name="Picture 42">
            <a:extLst>
              <a:ext uri="{FF2B5EF4-FFF2-40B4-BE49-F238E27FC236}">
                <a16:creationId xmlns:a16="http://schemas.microsoft.com/office/drawing/2014/main" id="{3D23EA85-6C01-D659-587C-652F2926BFD4}"/>
              </a:ext>
            </a:extLst>
          </p:cNvPr>
          <p:cNvPicPr>
            <a:picLocks noChangeAspect="1"/>
          </p:cNvPicPr>
          <p:nvPr/>
        </p:nvPicPr>
        <p:blipFill>
          <a:blip r:embed="rId8"/>
          <a:stretch>
            <a:fillRect/>
          </a:stretch>
        </p:blipFill>
        <p:spPr>
          <a:xfrm>
            <a:off x="2949345" y="5146019"/>
            <a:ext cx="1290474" cy="11561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7" name="Picture 46">
            <a:extLst>
              <a:ext uri="{FF2B5EF4-FFF2-40B4-BE49-F238E27FC236}">
                <a16:creationId xmlns:a16="http://schemas.microsoft.com/office/drawing/2014/main" id="{F8285500-BD2D-A628-A355-C0D10013FE6E}"/>
              </a:ext>
            </a:extLst>
          </p:cNvPr>
          <p:cNvPicPr>
            <a:picLocks noChangeAspect="1"/>
          </p:cNvPicPr>
          <p:nvPr/>
        </p:nvPicPr>
        <p:blipFill>
          <a:blip r:embed="rId9"/>
          <a:stretch>
            <a:fillRect/>
          </a:stretch>
        </p:blipFill>
        <p:spPr>
          <a:xfrm>
            <a:off x="4393470" y="5206508"/>
            <a:ext cx="1511620" cy="10351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5" name="Picture 54">
            <a:extLst>
              <a:ext uri="{FF2B5EF4-FFF2-40B4-BE49-F238E27FC236}">
                <a16:creationId xmlns:a16="http://schemas.microsoft.com/office/drawing/2014/main" id="{53E68177-2AE8-AC41-9030-738220541A1F}"/>
              </a:ext>
            </a:extLst>
          </p:cNvPr>
          <p:cNvPicPr>
            <a:picLocks noChangeAspect="1"/>
          </p:cNvPicPr>
          <p:nvPr/>
        </p:nvPicPr>
        <p:blipFill>
          <a:blip r:embed="rId10"/>
          <a:stretch>
            <a:fillRect/>
          </a:stretch>
        </p:blipFill>
        <p:spPr>
          <a:xfrm>
            <a:off x="6091237" y="5224020"/>
            <a:ext cx="1409528" cy="11260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1" name="Picture 60">
            <a:extLst>
              <a:ext uri="{FF2B5EF4-FFF2-40B4-BE49-F238E27FC236}">
                <a16:creationId xmlns:a16="http://schemas.microsoft.com/office/drawing/2014/main" id="{AA181EEB-D934-E896-9B88-F344AD793B9A}"/>
              </a:ext>
            </a:extLst>
          </p:cNvPr>
          <p:cNvPicPr>
            <a:picLocks noChangeAspect="1"/>
          </p:cNvPicPr>
          <p:nvPr/>
        </p:nvPicPr>
        <p:blipFill>
          <a:blip r:embed="rId11"/>
          <a:stretch>
            <a:fillRect/>
          </a:stretch>
        </p:blipFill>
        <p:spPr>
          <a:xfrm>
            <a:off x="7675669" y="5162510"/>
            <a:ext cx="1143971" cy="1141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7" name="Picture 66">
            <a:extLst>
              <a:ext uri="{FF2B5EF4-FFF2-40B4-BE49-F238E27FC236}">
                <a16:creationId xmlns:a16="http://schemas.microsoft.com/office/drawing/2014/main" id="{B4E57A78-CD69-3596-BCA1-34CD4576AD57}"/>
              </a:ext>
            </a:extLst>
          </p:cNvPr>
          <p:cNvPicPr>
            <a:picLocks noChangeAspect="1"/>
          </p:cNvPicPr>
          <p:nvPr/>
        </p:nvPicPr>
        <p:blipFill>
          <a:blip r:embed="rId12"/>
          <a:stretch>
            <a:fillRect/>
          </a:stretch>
        </p:blipFill>
        <p:spPr>
          <a:xfrm>
            <a:off x="8994544" y="5216648"/>
            <a:ext cx="1380201" cy="11334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a:extLst>
              <a:ext uri="{FF2B5EF4-FFF2-40B4-BE49-F238E27FC236}">
                <a16:creationId xmlns:a16="http://schemas.microsoft.com/office/drawing/2014/main" id="{4F4C8676-D8E7-33CC-B737-A50AAA12DDFF}"/>
              </a:ext>
            </a:extLst>
          </p:cNvPr>
          <p:cNvPicPr>
            <a:picLocks noChangeAspect="1"/>
          </p:cNvPicPr>
          <p:nvPr/>
        </p:nvPicPr>
        <p:blipFill>
          <a:blip r:embed="rId13">
            <a:alphaModFix amt="50000"/>
          </a:blip>
          <a:stretch>
            <a:fillRect/>
          </a:stretch>
        </p:blipFill>
        <p:spPr>
          <a:xfrm>
            <a:off x="2052939" y="2640633"/>
            <a:ext cx="7127242" cy="2477915"/>
          </a:xfrm>
          <a:prstGeom prst="rect">
            <a:avLst/>
          </a:prstGeom>
        </p:spPr>
      </p:pic>
    </p:spTree>
    <p:extLst>
      <p:ext uri="{BB962C8B-B14F-4D97-AF65-F5344CB8AC3E}">
        <p14:creationId xmlns:p14="http://schemas.microsoft.com/office/powerpoint/2010/main" val="98526882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alendar icons with months&#10;&#10;AI-generated content may be incorrect.">
            <a:extLst>
              <a:ext uri="{FF2B5EF4-FFF2-40B4-BE49-F238E27FC236}">
                <a16:creationId xmlns:a16="http://schemas.microsoft.com/office/drawing/2014/main" id="{C11B3CA0-F4D7-4FBC-084C-58765A0BA2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40769" y="4145539"/>
            <a:ext cx="1454551" cy="1064815"/>
          </a:xfrm>
          <a:prstGeom prst="rect">
            <a:avLst/>
          </a:prstGeom>
        </p:spPr>
      </p:pic>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4"/>
          <a:stretch>
            <a:fillRect/>
          </a:stretch>
        </p:blipFill>
        <p:spPr>
          <a:xfrm>
            <a:off x="241496" y="1547261"/>
            <a:ext cx="11709008" cy="914115"/>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266318" y="1499514"/>
            <a:ext cx="11503357" cy="707886"/>
          </a:xfrm>
          <a:prstGeom prst="rect">
            <a:avLst/>
          </a:prstGeom>
          <a:noFill/>
        </p:spPr>
        <p:txBody>
          <a:bodyPr wrap="square" rtlCol="0">
            <a:spAutoFit/>
          </a:bodyPr>
          <a:lstStyle/>
          <a:p>
            <a:pPr algn="ctr"/>
            <a:r>
              <a:rPr lang="en-NZ" sz="4000" b="1" dirty="0">
                <a:solidFill>
                  <a:schemeClr val="bg1"/>
                </a:solidFill>
              </a:rPr>
              <a:t>Events/</a:t>
            </a:r>
            <a:r>
              <a:rPr lang="en-NZ" sz="4000" b="1" dirty="0" err="1">
                <a:solidFill>
                  <a:schemeClr val="bg1">
                    <a:alpha val="45000"/>
                  </a:schemeClr>
                </a:solidFill>
              </a:rPr>
              <a:t>Takahanga</a:t>
            </a:r>
            <a:endParaRPr lang="en-NZ" sz="4000" dirty="0">
              <a:solidFill>
                <a:schemeClr val="bg1">
                  <a:alpha val="45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8659262" y="3499208"/>
            <a:ext cx="2598597" cy="646331"/>
          </a:xfrm>
          <a:prstGeom prst="rect">
            <a:avLst/>
          </a:prstGeom>
          <a:noFill/>
        </p:spPr>
        <p:txBody>
          <a:bodyPr wrap="square" rtlCol="0">
            <a:spAutoFit/>
          </a:bodyPr>
          <a:lstStyle/>
          <a:p>
            <a:pPr algn="l"/>
            <a:r>
              <a:rPr lang="en-NZ" b="1" dirty="0"/>
              <a:t>KEY CALENDAR DATES</a:t>
            </a:r>
          </a:p>
          <a:p>
            <a:endParaRPr lang="en-NZ" dirty="0"/>
          </a:p>
        </p:txBody>
      </p:sp>
      <p:pic>
        <p:nvPicPr>
          <p:cNvPr id="2" name="Picture 1">
            <a:extLst>
              <a:ext uri="{FF2B5EF4-FFF2-40B4-BE49-F238E27FC236}">
                <a16:creationId xmlns:a16="http://schemas.microsoft.com/office/drawing/2014/main" id="{18188728-015C-A488-1D6A-53B280BF7675}"/>
              </a:ext>
            </a:extLst>
          </p:cNvPr>
          <p:cNvPicPr>
            <a:picLocks noChangeAspect="1"/>
          </p:cNvPicPr>
          <p:nvPr/>
        </p:nvPicPr>
        <p:blipFill>
          <a:blip r:embed="rId5"/>
          <a:stretch>
            <a:fillRect/>
          </a:stretch>
        </p:blipFill>
        <p:spPr>
          <a:xfrm>
            <a:off x="241496" y="154909"/>
            <a:ext cx="11553002" cy="1378191"/>
          </a:xfrm>
          <a:prstGeom prst="rect">
            <a:avLst/>
          </a:prstGeom>
        </p:spPr>
      </p:pic>
      <p:pic>
        <p:nvPicPr>
          <p:cNvPr id="11" name="Picture 10">
            <a:extLst>
              <a:ext uri="{FF2B5EF4-FFF2-40B4-BE49-F238E27FC236}">
                <a16:creationId xmlns:a16="http://schemas.microsoft.com/office/drawing/2014/main" id="{19B8EAE9-3E4A-90A9-6A15-B167CABC8822}"/>
              </a:ext>
            </a:extLst>
          </p:cNvPr>
          <p:cNvPicPr>
            <a:picLocks noChangeAspect="1"/>
          </p:cNvPicPr>
          <p:nvPr/>
        </p:nvPicPr>
        <p:blipFill>
          <a:blip r:embed="rId6"/>
          <a:stretch>
            <a:fillRect/>
          </a:stretch>
        </p:blipFill>
        <p:spPr>
          <a:xfrm>
            <a:off x="266318" y="2461377"/>
            <a:ext cx="8252266" cy="4371872"/>
          </a:xfrm>
          <a:prstGeom prst="rect">
            <a:avLst/>
          </a:prstGeom>
        </p:spPr>
      </p:pic>
    </p:spTree>
    <p:extLst>
      <p:ext uri="{BB962C8B-B14F-4D97-AF65-F5344CB8AC3E}">
        <p14:creationId xmlns:p14="http://schemas.microsoft.com/office/powerpoint/2010/main" val="2967044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sp>
        <p:nvSpPr>
          <p:cNvPr id="14" name="Rectangle 13">
            <a:extLst>
              <a:ext uri="{FF2B5EF4-FFF2-40B4-BE49-F238E27FC236}">
                <a16:creationId xmlns:a16="http://schemas.microsoft.com/office/drawing/2014/main" id="{A819917A-873A-D789-0F53-F7D6D2AACB25}"/>
              </a:ext>
            </a:extLst>
          </p:cNvPr>
          <p:cNvSpPr/>
          <p:nvPr/>
        </p:nvSpPr>
        <p:spPr>
          <a:xfrm>
            <a:off x="2583109" y="448063"/>
            <a:ext cx="9508073" cy="13485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b="1"/>
              <a:t>Our Projects</a:t>
            </a:r>
          </a:p>
          <a:p>
            <a:pPr algn="ctr"/>
            <a:r>
              <a:rPr lang="en-NZ"/>
              <a:t>Ā mātou kaupapa</a:t>
            </a: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335715"/>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Get Involved/</a:t>
            </a:r>
            <a:r>
              <a:rPr lang="en-NZ" sz="4000" dirty="0" err="1">
                <a:solidFill>
                  <a:schemeClr val="bg1">
                    <a:alpha val="45000"/>
                  </a:schemeClr>
                </a:solidFill>
              </a:rPr>
              <a:t>Whai</a:t>
            </a:r>
            <a:r>
              <a:rPr lang="en-NZ" sz="4000" dirty="0">
                <a:solidFill>
                  <a:schemeClr val="bg1">
                    <a:alpha val="45000"/>
                  </a:schemeClr>
                </a:solidFill>
              </a:rPr>
              <a:t> wāhi mai</a:t>
            </a:r>
          </a:p>
        </p:txBody>
      </p:sp>
      <p:sp>
        <p:nvSpPr>
          <p:cNvPr id="15" name="TextBox 14">
            <a:extLst>
              <a:ext uri="{FF2B5EF4-FFF2-40B4-BE49-F238E27FC236}">
                <a16:creationId xmlns:a16="http://schemas.microsoft.com/office/drawing/2014/main" id="{25E3CE0F-2B43-0871-B998-BD8B26362B57}"/>
              </a:ext>
            </a:extLst>
          </p:cNvPr>
          <p:cNvSpPr txBox="1"/>
          <p:nvPr/>
        </p:nvSpPr>
        <p:spPr>
          <a:xfrm>
            <a:off x="2386978" y="3295671"/>
            <a:ext cx="7262037" cy="646331"/>
          </a:xfrm>
          <a:prstGeom prst="rect">
            <a:avLst/>
          </a:prstGeom>
          <a:noFill/>
        </p:spPr>
        <p:txBody>
          <a:bodyPr wrap="square" rtlCol="0">
            <a:spAutoFit/>
          </a:bodyPr>
          <a:lstStyle/>
          <a:p>
            <a:pPr algn="l"/>
            <a:r>
              <a:rPr lang="en-NZ" b="1" dirty="0"/>
              <a:t>HOW CAN YOU SUPPORT US – CLICK ON THE RELEVANT ICON</a:t>
            </a:r>
          </a:p>
          <a:p>
            <a:endParaRPr lang="en-NZ" dirty="0"/>
          </a:p>
        </p:txBody>
      </p:sp>
      <p:pic>
        <p:nvPicPr>
          <p:cNvPr id="19" name="Picture 18" descr="A torn paper with white text&#10;&#10;AI-generated content may be incorrect.">
            <a:extLst>
              <a:ext uri="{FF2B5EF4-FFF2-40B4-BE49-F238E27FC236}">
                <a16:creationId xmlns:a16="http://schemas.microsoft.com/office/drawing/2014/main" id="{D6A155E9-342D-68C3-B0E6-F9F5AA8BA9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1310" y="4124804"/>
            <a:ext cx="2069322" cy="712205"/>
          </a:xfrm>
          <a:prstGeom prst="rect">
            <a:avLst/>
          </a:prstGeom>
        </p:spPr>
      </p:pic>
      <p:pic>
        <p:nvPicPr>
          <p:cNvPr id="21" name="Picture 20" descr="A hand cursor and a button&#10;&#10;AI-generated content may be incorrect.">
            <a:extLst>
              <a:ext uri="{FF2B5EF4-FFF2-40B4-BE49-F238E27FC236}">
                <a16:creationId xmlns:a16="http://schemas.microsoft.com/office/drawing/2014/main" id="{EF954E15-A559-884A-C27F-68D797CE78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9609" y="3761873"/>
            <a:ext cx="1407333" cy="1160694"/>
          </a:xfrm>
          <a:prstGeom prst="rect">
            <a:avLst/>
          </a:prstGeom>
        </p:spPr>
      </p:pic>
      <p:pic>
        <p:nvPicPr>
          <p:cNvPr id="23" name="Picture 22" descr="A black and white text&#10;&#10;AI-generated content may be incorrect.">
            <a:extLst>
              <a:ext uri="{FF2B5EF4-FFF2-40B4-BE49-F238E27FC236}">
                <a16:creationId xmlns:a16="http://schemas.microsoft.com/office/drawing/2014/main" id="{B86799C0-436A-62E1-A8DB-1496CEF875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17688" y="4079824"/>
            <a:ext cx="1631327" cy="509790"/>
          </a:xfrm>
          <a:prstGeom prst="rect">
            <a:avLst/>
          </a:prstGeom>
        </p:spPr>
      </p:pic>
      <p:sp>
        <p:nvSpPr>
          <p:cNvPr id="24" name="Rectangle: Rounded Corners 23">
            <a:extLst>
              <a:ext uri="{FF2B5EF4-FFF2-40B4-BE49-F238E27FC236}">
                <a16:creationId xmlns:a16="http://schemas.microsoft.com/office/drawing/2014/main" id="{77EF93D7-A3D8-52BE-B2D9-0B92D9F588A1}"/>
              </a:ext>
            </a:extLst>
          </p:cNvPr>
          <p:cNvSpPr/>
          <p:nvPr/>
        </p:nvSpPr>
        <p:spPr>
          <a:xfrm>
            <a:off x="8466053" y="5364134"/>
            <a:ext cx="1481183" cy="868265"/>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t>Contact Us</a:t>
            </a:r>
          </a:p>
        </p:txBody>
      </p:sp>
      <p:pic>
        <p:nvPicPr>
          <p:cNvPr id="27" name="Picture 26" descr="A close-up of words&#10;&#10;AI-generated content may be incorrect.">
            <a:extLst>
              <a:ext uri="{FF2B5EF4-FFF2-40B4-BE49-F238E27FC236}">
                <a16:creationId xmlns:a16="http://schemas.microsoft.com/office/drawing/2014/main" id="{D1DFA9EF-9542-DB47-7E30-43666A1733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65971" y="5237227"/>
            <a:ext cx="2403638" cy="995172"/>
          </a:xfrm>
          <a:prstGeom prst="rect">
            <a:avLst/>
          </a:prstGeom>
        </p:spPr>
      </p:pic>
      <p:pic>
        <p:nvPicPr>
          <p:cNvPr id="32" name="Picture 31" descr="A black hands with hearts&#10;&#10;AI-generated content may be incorrect.">
            <a:extLst>
              <a:ext uri="{FF2B5EF4-FFF2-40B4-BE49-F238E27FC236}">
                <a16:creationId xmlns:a16="http://schemas.microsoft.com/office/drawing/2014/main" id="{03B7C394-83F5-45E2-F9E9-8485A683DB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17996" y="5109879"/>
            <a:ext cx="1313449" cy="1532357"/>
          </a:xfrm>
          <a:prstGeom prst="rect">
            <a:avLst/>
          </a:prstGeom>
        </p:spPr>
      </p:pic>
      <p:pic>
        <p:nvPicPr>
          <p:cNvPr id="2" name="Picture 1">
            <a:extLst>
              <a:ext uri="{FF2B5EF4-FFF2-40B4-BE49-F238E27FC236}">
                <a16:creationId xmlns:a16="http://schemas.microsoft.com/office/drawing/2014/main" id="{18188728-015C-A488-1D6A-53B280BF7675}"/>
              </a:ext>
            </a:extLst>
          </p:cNvPr>
          <p:cNvPicPr>
            <a:picLocks noChangeAspect="1"/>
          </p:cNvPicPr>
          <p:nvPr/>
        </p:nvPicPr>
        <p:blipFill>
          <a:blip r:embed="rId8"/>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3812956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7E842C-6322-099F-78A6-C0D29FD3FC2F}"/>
              </a:ext>
            </a:extLst>
          </p:cNvPr>
          <p:cNvPicPr>
            <a:picLocks noGrp="1" noChangeAspect="1"/>
          </p:cNvPicPr>
          <p:nvPr>
            <p:ph idx="1"/>
          </p:nvPr>
        </p:nvPicPr>
        <p:blipFill>
          <a:blip r:embed="rId2"/>
          <a:stretch>
            <a:fillRect/>
          </a:stretch>
        </p:blipFill>
        <p:spPr>
          <a:xfrm>
            <a:off x="575479" y="278939"/>
            <a:ext cx="2066723" cy="707197"/>
          </a:xfrm>
          <a:prstGeom prst="rect">
            <a:avLst/>
          </a:prstGeom>
        </p:spPr>
      </p:pic>
      <p:graphicFrame>
        <p:nvGraphicFramePr>
          <p:cNvPr id="6" name="Object 5">
            <a:extLst>
              <a:ext uri="{FF2B5EF4-FFF2-40B4-BE49-F238E27FC236}">
                <a16:creationId xmlns:a16="http://schemas.microsoft.com/office/drawing/2014/main" id="{CFBE9747-6427-4F3C-2613-239DD1F226AD}"/>
              </a:ext>
            </a:extLst>
          </p:cNvPr>
          <p:cNvGraphicFramePr>
            <a:graphicFrameLocks noChangeAspect="1"/>
          </p:cNvGraphicFramePr>
          <p:nvPr>
            <p:extLst>
              <p:ext uri="{D42A27DB-BD31-4B8C-83A1-F6EECF244321}">
                <p14:modId xmlns:p14="http://schemas.microsoft.com/office/powerpoint/2010/main" val="2699062496"/>
              </p:ext>
            </p:extLst>
          </p:nvPr>
        </p:nvGraphicFramePr>
        <p:xfrm>
          <a:off x="171645" y="1089644"/>
          <a:ext cx="2874390" cy="4085671"/>
        </p:xfrm>
        <a:graphic>
          <a:graphicData uri="http://schemas.openxmlformats.org/presentationml/2006/ole">
            <mc:AlternateContent xmlns:mc="http://schemas.openxmlformats.org/markup-compatibility/2006">
              <mc:Choice xmlns:v="urn:schemas-microsoft-com:vml" Requires="v">
                <p:oleObj name="PDF" r:id="rId3" imgW="0" imgH="360" progId="FoxitReader.Document">
                  <p:embed/>
                </p:oleObj>
              </mc:Choice>
              <mc:Fallback>
                <p:oleObj name="PDF" r:id="rId3" imgW="0" imgH="360" progId="FoxitReader.Document">
                  <p:embed/>
                  <p:pic>
                    <p:nvPicPr>
                      <p:cNvPr id="0" name=""/>
                      <p:cNvPicPr/>
                      <p:nvPr/>
                    </p:nvPicPr>
                    <p:blipFill>
                      <a:blip r:embed="rId4"/>
                      <a:stretch>
                        <a:fillRect/>
                      </a:stretch>
                    </p:blipFill>
                    <p:spPr>
                      <a:xfrm>
                        <a:off x="171645" y="1089644"/>
                        <a:ext cx="2874390" cy="4085671"/>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724CCDF6-5AA6-6D9F-9341-285C0BA51ED1}"/>
              </a:ext>
            </a:extLst>
          </p:cNvPr>
          <p:cNvPicPr>
            <a:picLocks noChangeAspect="1"/>
          </p:cNvPicPr>
          <p:nvPr/>
        </p:nvPicPr>
        <p:blipFill>
          <a:blip r:embed="rId5"/>
          <a:stretch>
            <a:fillRect/>
          </a:stretch>
        </p:blipFill>
        <p:spPr>
          <a:xfrm>
            <a:off x="3444208" y="202210"/>
            <a:ext cx="1046373" cy="860653"/>
          </a:xfrm>
          <a:prstGeom prst="rect">
            <a:avLst/>
          </a:prstGeom>
        </p:spPr>
      </p:pic>
      <p:sp>
        <p:nvSpPr>
          <p:cNvPr id="8" name="TextBox 7">
            <a:extLst>
              <a:ext uri="{FF2B5EF4-FFF2-40B4-BE49-F238E27FC236}">
                <a16:creationId xmlns:a16="http://schemas.microsoft.com/office/drawing/2014/main" id="{84A0BDC9-6139-CEF3-6B1E-8114623C221E}"/>
              </a:ext>
            </a:extLst>
          </p:cNvPr>
          <p:cNvSpPr txBox="1"/>
          <p:nvPr/>
        </p:nvSpPr>
        <p:spPr>
          <a:xfrm>
            <a:off x="3374796" y="1442301"/>
            <a:ext cx="1272618" cy="923330"/>
          </a:xfrm>
          <a:prstGeom prst="rect">
            <a:avLst/>
          </a:prstGeom>
          <a:noFill/>
        </p:spPr>
        <p:txBody>
          <a:bodyPr wrap="square" rtlCol="0">
            <a:spAutoFit/>
          </a:bodyPr>
          <a:lstStyle/>
          <a:p>
            <a:r>
              <a:rPr lang="en-NZ" dirty="0"/>
              <a:t>Link to Donation form </a:t>
            </a:r>
          </a:p>
        </p:txBody>
      </p:sp>
      <p:pic>
        <p:nvPicPr>
          <p:cNvPr id="9" name="Picture 8" descr="A black and white text&#10;&#10;AI-generated content may be incorrect.">
            <a:extLst>
              <a:ext uri="{FF2B5EF4-FFF2-40B4-BE49-F238E27FC236}">
                <a16:creationId xmlns:a16="http://schemas.microsoft.com/office/drawing/2014/main" id="{283DEC2E-CE12-C20F-6E2E-E2EB0C0CA3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87984" y="377641"/>
            <a:ext cx="1631327" cy="509790"/>
          </a:xfrm>
          <a:prstGeom prst="rect">
            <a:avLst/>
          </a:prstGeom>
        </p:spPr>
      </p:pic>
      <p:sp>
        <p:nvSpPr>
          <p:cNvPr id="10" name="TextBox 9">
            <a:extLst>
              <a:ext uri="{FF2B5EF4-FFF2-40B4-BE49-F238E27FC236}">
                <a16:creationId xmlns:a16="http://schemas.microsoft.com/office/drawing/2014/main" id="{F984F54F-1E75-12A9-E28C-4FA0DE717561}"/>
              </a:ext>
            </a:extLst>
          </p:cNvPr>
          <p:cNvSpPr txBox="1"/>
          <p:nvPr/>
        </p:nvSpPr>
        <p:spPr>
          <a:xfrm>
            <a:off x="5490549" y="986136"/>
            <a:ext cx="1272618" cy="1754326"/>
          </a:xfrm>
          <a:prstGeom prst="rect">
            <a:avLst/>
          </a:prstGeom>
          <a:noFill/>
        </p:spPr>
        <p:txBody>
          <a:bodyPr wrap="square" rtlCol="0">
            <a:spAutoFit/>
          </a:bodyPr>
          <a:lstStyle/>
          <a:p>
            <a:r>
              <a:rPr lang="en-NZ" dirty="0"/>
              <a:t>Link to our Givealittle page</a:t>
            </a:r>
          </a:p>
          <a:p>
            <a:r>
              <a:rPr lang="en-NZ" dirty="0"/>
              <a:t>https://my.givealittle.co.nz/</a:t>
            </a:r>
          </a:p>
        </p:txBody>
      </p:sp>
      <p:pic>
        <p:nvPicPr>
          <p:cNvPr id="11" name="Picture 10" descr="A close-up of words&#10;&#10;AI-generated content may be incorrect.">
            <a:extLst>
              <a:ext uri="{FF2B5EF4-FFF2-40B4-BE49-F238E27FC236}">
                <a16:creationId xmlns:a16="http://schemas.microsoft.com/office/drawing/2014/main" id="{5A4601CA-8C78-CC4A-135E-9FE28A31460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37837" y="278939"/>
            <a:ext cx="2403638" cy="995172"/>
          </a:xfrm>
          <a:prstGeom prst="rect">
            <a:avLst/>
          </a:prstGeom>
        </p:spPr>
      </p:pic>
      <p:sp>
        <p:nvSpPr>
          <p:cNvPr id="12" name="TextBox 11">
            <a:extLst>
              <a:ext uri="{FF2B5EF4-FFF2-40B4-BE49-F238E27FC236}">
                <a16:creationId xmlns:a16="http://schemas.microsoft.com/office/drawing/2014/main" id="{943DD72D-753E-EEF9-A8F3-503A42B6C491}"/>
              </a:ext>
            </a:extLst>
          </p:cNvPr>
          <p:cNvSpPr txBox="1"/>
          <p:nvPr/>
        </p:nvSpPr>
        <p:spPr>
          <a:xfrm>
            <a:off x="8703347" y="1442301"/>
            <a:ext cx="1272618" cy="923330"/>
          </a:xfrm>
          <a:prstGeom prst="rect">
            <a:avLst/>
          </a:prstGeom>
          <a:noFill/>
        </p:spPr>
        <p:txBody>
          <a:bodyPr wrap="square" rtlCol="0">
            <a:spAutoFit/>
          </a:bodyPr>
          <a:lstStyle/>
          <a:p>
            <a:r>
              <a:rPr lang="en-NZ" dirty="0"/>
              <a:t>Link to our Contact Us page</a:t>
            </a:r>
          </a:p>
        </p:txBody>
      </p:sp>
      <p:pic>
        <p:nvPicPr>
          <p:cNvPr id="13" name="Picture 12" descr="A black hands with hearts&#10;&#10;AI-generated content may be incorrect.">
            <a:extLst>
              <a:ext uri="{FF2B5EF4-FFF2-40B4-BE49-F238E27FC236}">
                <a16:creationId xmlns:a16="http://schemas.microsoft.com/office/drawing/2014/main" id="{4665A122-B02E-B9BB-DAAD-907B922933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90581" y="3141905"/>
            <a:ext cx="1313449" cy="1532357"/>
          </a:xfrm>
          <a:prstGeom prst="rect">
            <a:avLst/>
          </a:prstGeom>
        </p:spPr>
      </p:pic>
      <p:sp>
        <p:nvSpPr>
          <p:cNvPr id="14" name="TextBox 13">
            <a:extLst>
              <a:ext uri="{FF2B5EF4-FFF2-40B4-BE49-F238E27FC236}">
                <a16:creationId xmlns:a16="http://schemas.microsoft.com/office/drawing/2014/main" id="{B4D71982-4B36-16B3-78CB-7145D1B5BB64}"/>
              </a:ext>
            </a:extLst>
          </p:cNvPr>
          <p:cNvSpPr txBox="1"/>
          <p:nvPr/>
        </p:nvSpPr>
        <p:spPr>
          <a:xfrm>
            <a:off x="4647414" y="4856375"/>
            <a:ext cx="1272618" cy="923330"/>
          </a:xfrm>
          <a:prstGeom prst="rect">
            <a:avLst/>
          </a:prstGeom>
          <a:noFill/>
        </p:spPr>
        <p:txBody>
          <a:bodyPr wrap="square" rtlCol="0">
            <a:spAutoFit/>
          </a:bodyPr>
          <a:lstStyle/>
          <a:p>
            <a:r>
              <a:rPr lang="en-NZ" dirty="0"/>
              <a:t>Link to our Contact Us </a:t>
            </a:r>
            <a:r>
              <a:rPr lang="en-NZ" dirty="0" err="1"/>
              <a:t>pagec</a:t>
            </a:r>
            <a:endParaRPr lang="en-NZ" dirty="0"/>
          </a:p>
        </p:txBody>
      </p:sp>
      <p:sp>
        <p:nvSpPr>
          <p:cNvPr id="15" name="Rectangle: Rounded Corners 14">
            <a:extLst>
              <a:ext uri="{FF2B5EF4-FFF2-40B4-BE49-F238E27FC236}">
                <a16:creationId xmlns:a16="http://schemas.microsoft.com/office/drawing/2014/main" id="{1D77A891-275D-B651-2641-E83AA3E151F6}"/>
              </a:ext>
            </a:extLst>
          </p:cNvPr>
          <p:cNvSpPr/>
          <p:nvPr/>
        </p:nvSpPr>
        <p:spPr>
          <a:xfrm>
            <a:off x="7019311" y="3346797"/>
            <a:ext cx="1481183" cy="868265"/>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sz="1400" dirty="0"/>
              <a:t>Contact Us</a:t>
            </a:r>
          </a:p>
        </p:txBody>
      </p:sp>
      <p:sp>
        <p:nvSpPr>
          <p:cNvPr id="17" name="TextBox 16">
            <a:extLst>
              <a:ext uri="{FF2B5EF4-FFF2-40B4-BE49-F238E27FC236}">
                <a16:creationId xmlns:a16="http://schemas.microsoft.com/office/drawing/2014/main" id="{669B0354-021A-52FF-301A-498EC9364F00}"/>
              </a:ext>
            </a:extLst>
          </p:cNvPr>
          <p:cNvSpPr txBox="1"/>
          <p:nvPr/>
        </p:nvSpPr>
        <p:spPr>
          <a:xfrm>
            <a:off x="7227876" y="4442126"/>
            <a:ext cx="1272618" cy="923330"/>
          </a:xfrm>
          <a:prstGeom prst="rect">
            <a:avLst/>
          </a:prstGeom>
          <a:noFill/>
        </p:spPr>
        <p:txBody>
          <a:bodyPr wrap="square" rtlCol="0">
            <a:spAutoFit/>
          </a:bodyPr>
          <a:lstStyle/>
          <a:p>
            <a:r>
              <a:rPr lang="en-NZ" dirty="0"/>
              <a:t>Link to our Contact Us page</a:t>
            </a:r>
          </a:p>
        </p:txBody>
      </p:sp>
      <p:sp>
        <p:nvSpPr>
          <p:cNvPr id="2" name="TextBox 1">
            <a:extLst>
              <a:ext uri="{FF2B5EF4-FFF2-40B4-BE49-F238E27FC236}">
                <a16:creationId xmlns:a16="http://schemas.microsoft.com/office/drawing/2014/main" id="{1A1B2CFF-BA24-DAD3-E65B-0DBE71C320ED}"/>
              </a:ext>
            </a:extLst>
          </p:cNvPr>
          <p:cNvSpPr txBox="1"/>
          <p:nvPr/>
        </p:nvSpPr>
        <p:spPr>
          <a:xfrm>
            <a:off x="471307" y="5554753"/>
            <a:ext cx="3799751" cy="923330"/>
          </a:xfrm>
          <a:prstGeom prst="rect">
            <a:avLst/>
          </a:prstGeom>
          <a:noFill/>
        </p:spPr>
        <p:txBody>
          <a:bodyPr wrap="square" rtlCol="0">
            <a:spAutoFit/>
          </a:bodyPr>
          <a:lstStyle/>
          <a:p>
            <a:r>
              <a:rPr lang="en-NZ" dirty="0">
                <a:highlight>
                  <a:srgbClr val="FFFF00"/>
                </a:highlight>
              </a:rPr>
              <a:t>Info for Ash Web Designer – need to give you a pdf for form membership donation</a:t>
            </a:r>
          </a:p>
        </p:txBody>
      </p:sp>
    </p:spTree>
    <p:extLst>
      <p:ext uri="{BB962C8B-B14F-4D97-AF65-F5344CB8AC3E}">
        <p14:creationId xmlns:p14="http://schemas.microsoft.com/office/powerpoint/2010/main" val="2673096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ociety-name">
            <a:extLst>
              <a:ext uri="{FF2B5EF4-FFF2-40B4-BE49-F238E27FC236}">
                <a16:creationId xmlns:a16="http://schemas.microsoft.com/office/drawing/2014/main" id="{A8773123-5A38-473D-B23A-83B676B2005F}"/>
              </a:ext>
            </a:extLst>
          </p:cNvPr>
          <p:cNvSpPr>
            <a:spLocks noGrp="1"/>
          </p:cNvSpPr>
          <p:nvPr/>
        </p:nvSpPr>
        <p:spPr>
          <a:xfrm>
            <a:off x="762000" y="266700"/>
            <a:ext cx="10668000" cy="266700"/>
          </a:xfrm>
          <a:prstGeom prst="rect">
            <a:avLst/>
          </a:prstGeom>
          <a:noFill/>
          <a:ln w="0">
            <a:noFill/>
            <a:prstDash val="solid"/>
          </a:ln>
        </p:spPr>
        <p:txBody>
          <a:bodyPr anchor="ctr"/>
          <a:lstStyle/>
          <a:p>
            <a:pPr algn="ctr">
              <a:defRPr sz="1350" b="1">
                <a:solidFill>
                  <a:srgbClr val="2E7D7B"/>
                </a:solidFill>
              </a:defRPr>
            </a:pPr>
            <a:r>
              <a:rPr sz="1350" b="1">
                <a:solidFill>
                  <a:srgbClr val="2E7D7B"/>
                </a:solidFill>
              </a:rPr>
              <a:t>TAUPŌ HOSPITAL &amp; HEALTH SOCIETY</a:t>
            </a:r>
          </a:p>
        </p:txBody>
      </p:sp>
      <p:sp>
        <p:nvSpPr>
          <p:cNvPr id="2" name="title">
            <a:extLst>
              <a:ext uri="{FF2B5EF4-FFF2-40B4-BE49-F238E27FC236}">
                <a16:creationId xmlns:a16="http://schemas.microsoft.com/office/drawing/2014/main" id="{BD65F75D-236D-41C6-ACA6-F015609A57D9}"/>
              </a:ext>
            </a:extLst>
          </p:cNvPr>
          <p:cNvSpPr>
            <a:spLocks noGrp="1"/>
          </p:cNvSpPr>
          <p:nvPr/>
        </p:nvSpPr>
        <p:spPr>
          <a:xfrm>
            <a:off x="762000" y="552450"/>
            <a:ext cx="10668000" cy="552450"/>
          </a:xfrm>
          <a:prstGeom prst="rect">
            <a:avLst/>
          </a:prstGeom>
          <a:noFill/>
          <a:ln w="0">
            <a:noFill/>
            <a:prstDash val="solid"/>
          </a:ln>
        </p:spPr>
        <p:txBody>
          <a:bodyPr anchor="ctr"/>
          <a:lstStyle/>
          <a:p>
            <a:pPr algn="ctr">
              <a:defRPr sz="3150" b="1">
                <a:solidFill>
                  <a:srgbClr val="183B56"/>
                </a:solidFill>
              </a:defRPr>
            </a:pPr>
            <a:r>
              <a:rPr sz="3150" b="1">
                <a:solidFill>
                  <a:srgbClr val="183B56"/>
                </a:solidFill>
              </a:rPr>
              <a:t>Contact the Society</a:t>
            </a:r>
          </a:p>
        </p:txBody>
      </p:sp>
      <p:sp>
        <p:nvSpPr>
          <p:cNvPr id="3" name="welcome">
            <a:extLst>
              <a:ext uri="{FF2B5EF4-FFF2-40B4-BE49-F238E27FC236}">
                <a16:creationId xmlns:a16="http://schemas.microsoft.com/office/drawing/2014/main" id="{44C35F7D-A5EE-403C-9B92-142A6A3A1BA2}"/>
              </a:ext>
            </a:extLst>
          </p:cNvPr>
          <p:cNvSpPr>
            <a:spLocks noGrp="1"/>
          </p:cNvSpPr>
          <p:nvPr/>
        </p:nvSpPr>
        <p:spPr>
          <a:xfrm>
            <a:off x="1428750" y="1123950"/>
            <a:ext cx="9334500" cy="285750"/>
          </a:xfrm>
          <a:prstGeom prst="rect">
            <a:avLst/>
          </a:prstGeom>
          <a:noFill/>
          <a:ln w="0">
            <a:noFill/>
            <a:prstDash val="solid"/>
          </a:ln>
        </p:spPr>
        <p:txBody>
          <a:bodyPr anchor="ctr"/>
          <a:lstStyle/>
          <a:p>
            <a:pPr algn="ctr">
              <a:defRPr sz="1425" b="0">
                <a:solidFill>
                  <a:srgbClr val="5E6B73"/>
                </a:solidFill>
              </a:defRPr>
            </a:pPr>
            <a:r>
              <a:rPr sz="1425" b="0">
                <a:solidFill>
                  <a:srgbClr val="5E6B73"/>
                </a:solidFill>
              </a:rPr>
              <a:t>We welcome enquiries from members of our community, organisations and supporters.</a:t>
            </a:r>
          </a:p>
        </p:txBody>
      </p:sp>
      <p:sp>
        <p:nvSpPr>
          <p:cNvPr id="4" name="contact-intro-bg">
            <a:extLst>
              <a:ext uri="{FF2B5EF4-FFF2-40B4-BE49-F238E27FC236}">
                <a16:creationId xmlns:a16="http://schemas.microsoft.com/office/drawing/2014/main" id="{FD7FD534-E0C6-4BE4-87F5-BE653D69B16F}"/>
              </a:ext>
            </a:extLst>
          </p:cNvPr>
          <p:cNvSpPr>
            <a:spLocks noGrp="1"/>
          </p:cNvSpPr>
          <p:nvPr/>
        </p:nvSpPr>
        <p:spPr>
          <a:xfrm>
            <a:off x="723900" y="1543050"/>
            <a:ext cx="10744200" cy="628650"/>
          </a:xfrm>
          <a:prstGeom prst="rect">
            <a:avLst/>
          </a:prstGeom>
          <a:solidFill>
            <a:srgbClr val="EAF3F3"/>
          </a:solidFill>
          <a:ln w="9525">
            <a:solidFill>
              <a:srgbClr val="183B56"/>
            </a:solidFill>
            <a:prstDash val="solid"/>
          </a:ln>
        </p:spPr>
      </p:sp>
      <p:sp>
        <p:nvSpPr>
          <p:cNvPr id="5" name="contact-intro-title">
            <a:extLst>
              <a:ext uri="{FF2B5EF4-FFF2-40B4-BE49-F238E27FC236}">
                <a16:creationId xmlns:a16="http://schemas.microsoft.com/office/drawing/2014/main" id="{293D035B-3BB4-4C57-BC0A-4DBC31CADAC5}"/>
              </a:ext>
            </a:extLst>
          </p:cNvPr>
          <p:cNvSpPr>
            <a:spLocks noGrp="1"/>
          </p:cNvSpPr>
          <p:nvPr/>
        </p:nvSpPr>
        <p:spPr>
          <a:xfrm>
            <a:off x="895350" y="1628775"/>
            <a:ext cx="2857500" cy="238125"/>
          </a:xfrm>
          <a:prstGeom prst="rect">
            <a:avLst/>
          </a:prstGeom>
          <a:noFill/>
          <a:ln w="0">
            <a:noFill/>
            <a:prstDash val="solid"/>
          </a:ln>
        </p:spPr>
        <p:txBody>
          <a:bodyPr anchor="ctr"/>
          <a:lstStyle/>
          <a:p>
            <a:pPr algn="l">
              <a:defRPr sz="1800" b="1">
                <a:solidFill>
                  <a:srgbClr val="183B56"/>
                </a:solidFill>
              </a:defRPr>
            </a:pPr>
            <a:r>
              <a:rPr sz="1800" b="1">
                <a:solidFill>
                  <a:srgbClr val="183B56"/>
                </a:solidFill>
              </a:rPr>
              <a:t>How to contact us</a:t>
            </a:r>
          </a:p>
        </p:txBody>
      </p:sp>
      <p:sp>
        <p:nvSpPr>
          <p:cNvPr id="6" name="contact-intro-copy">
            <a:extLst>
              <a:ext uri="{FF2B5EF4-FFF2-40B4-BE49-F238E27FC236}">
                <a16:creationId xmlns:a16="http://schemas.microsoft.com/office/drawing/2014/main" id="{61AECF2B-2B66-4221-9BE5-06439B766B21}"/>
              </a:ext>
            </a:extLst>
          </p:cNvPr>
          <p:cNvSpPr>
            <a:spLocks noGrp="1"/>
          </p:cNvSpPr>
          <p:nvPr/>
        </p:nvSpPr>
        <p:spPr>
          <a:xfrm>
            <a:off x="895350" y="1876425"/>
            <a:ext cx="9525000" cy="209550"/>
          </a:xfrm>
          <a:prstGeom prst="rect">
            <a:avLst/>
          </a:prstGeom>
          <a:noFill/>
          <a:ln w="0">
            <a:noFill/>
            <a:prstDash val="solid"/>
          </a:ln>
        </p:spPr>
        <p:txBody>
          <a:bodyPr anchor="ctr"/>
          <a:lstStyle/>
          <a:p>
            <a:pPr algn="l">
              <a:defRPr sz="1275" b="0">
                <a:solidFill>
                  <a:srgbClr val="263640"/>
                </a:solidFill>
              </a:defRPr>
            </a:pPr>
            <a:r>
              <a:rPr sz="1275" b="0">
                <a:solidFill>
                  <a:srgbClr val="263640"/>
                </a:solidFill>
              </a:rPr>
              <a:t>Email the Society or speak directly with our Chairperson or Secretary.</a:t>
            </a:r>
          </a:p>
        </p:txBody>
      </p:sp>
      <p:sp>
        <p:nvSpPr>
          <p:cNvPr id="7" name="contact-0-label-bg">
            <a:extLst>
              <a:ext uri="{FF2B5EF4-FFF2-40B4-BE49-F238E27FC236}">
                <a16:creationId xmlns:a16="http://schemas.microsoft.com/office/drawing/2014/main" id="{B5E03F0D-38F7-4F58-A33C-0B43995522ED}"/>
              </a:ext>
            </a:extLst>
          </p:cNvPr>
          <p:cNvSpPr>
            <a:spLocks noGrp="1"/>
          </p:cNvSpPr>
          <p:nvPr/>
        </p:nvSpPr>
        <p:spPr>
          <a:xfrm>
            <a:off x="723900" y="2343150"/>
            <a:ext cx="1447800" cy="514350"/>
          </a:xfrm>
          <a:prstGeom prst="rect">
            <a:avLst/>
          </a:prstGeom>
          <a:solidFill>
            <a:srgbClr val="183B56"/>
          </a:solidFill>
          <a:ln w="9525">
            <a:solidFill>
              <a:srgbClr val="183B56"/>
            </a:solidFill>
            <a:prstDash val="solid"/>
          </a:ln>
        </p:spPr>
      </p:sp>
      <p:sp>
        <p:nvSpPr>
          <p:cNvPr id="8" name="contact-0-value-bg">
            <a:extLst>
              <a:ext uri="{FF2B5EF4-FFF2-40B4-BE49-F238E27FC236}">
                <a16:creationId xmlns:a16="http://schemas.microsoft.com/office/drawing/2014/main" id="{12510082-F064-4BB0-BC8F-713B1862551F}"/>
              </a:ext>
            </a:extLst>
          </p:cNvPr>
          <p:cNvSpPr>
            <a:spLocks noGrp="1"/>
          </p:cNvSpPr>
          <p:nvPr/>
        </p:nvSpPr>
        <p:spPr>
          <a:xfrm>
            <a:off x="2171700" y="2343150"/>
            <a:ext cx="1962150" cy="514350"/>
          </a:xfrm>
          <a:prstGeom prst="rect">
            <a:avLst/>
          </a:prstGeom>
          <a:solidFill>
            <a:srgbClr val="FFFFFF"/>
          </a:solidFill>
          <a:ln w="9525">
            <a:solidFill>
              <a:srgbClr val="C9D3D7"/>
            </a:solidFill>
            <a:prstDash val="solid"/>
          </a:ln>
        </p:spPr>
      </p:sp>
      <p:sp>
        <p:nvSpPr>
          <p:cNvPr id="9" name="contact-0-label">
            <a:extLst>
              <a:ext uri="{FF2B5EF4-FFF2-40B4-BE49-F238E27FC236}">
                <a16:creationId xmlns:a16="http://schemas.microsoft.com/office/drawing/2014/main" id="{E27117CC-113E-4CCD-A7ED-A6172481069B}"/>
              </a:ext>
            </a:extLst>
          </p:cNvPr>
          <p:cNvSpPr>
            <a:spLocks noGrp="1"/>
          </p:cNvSpPr>
          <p:nvPr/>
        </p:nvSpPr>
        <p:spPr>
          <a:xfrm>
            <a:off x="790575" y="2447925"/>
            <a:ext cx="13144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EMAIL</a:t>
            </a:r>
          </a:p>
        </p:txBody>
      </p:sp>
      <p:sp>
        <p:nvSpPr>
          <p:cNvPr id="10" name="contact-0-value">
            <a:extLst>
              <a:ext uri="{FF2B5EF4-FFF2-40B4-BE49-F238E27FC236}">
                <a16:creationId xmlns:a16="http://schemas.microsoft.com/office/drawing/2014/main" id="{A321CA19-7C47-411C-B9B2-2FAB8ADC406A}"/>
              </a:ext>
            </a:extLst>
          </p:cNvPr>
          <p:cNvSpPr>
            <a:spLocks noGrp="1"/>
          </p:cNvSpPr>
          <p:nvPr/>
        </p:nvSpPr>
        <p:spPr>
          <a:xfrm>
            <a:off x="2247900" y="2447925"/>
            <a:ext cx="1809750" cy="285750"/>
          </a:xfrm>
          <a:prstGeom prst="rect">
            <a:avLst/>
          </a:prstGeom>
          <a:noFill/>
          <a:ln w="0">
            <a:noFill/>
            <a:prstDash val="solid"/>
          </a:ln>
        </p:spPr>
        <p:txBody>
          <a:bodyPr anchor="ctr"/>
          <a:lstStyle/>
          <a:p>
            <a:pPr algn="ctr">
              <a:defRPr sz="1200" b="1">
                <a:solidFill>
                  <a:srgbClr val="2E7D7B"/>
                </a:solidFill>
              </a:defRPr>
            </a:pPr>
            <a:r>
              <a:rPr sz="1200" b="1">
                <a:solidFill>
                  <a:srgbClr val="2E7D7B"/>
                </a:solidFill>
              </a:rPr>
              <a:t>admin@thhs.org.nz</a:t>
            </a:r>
          </a:p>
        </p:txBody>
      </p:sp>
      <p:sp>
        <p:nvSpPr>
          <p:cNvPr id="11" name="contact-1-label-bg">
            <a:extLst>
              <a:ext uri="{FF2B5EF4-FFF2-40B4-BE49-F238E27FC236}">
                <a16:creationId xmlns:a16="http://schemas.microsoft.com/office/drawing/2014/main" id="{A2E93ACC-F428-4855-AFFF-F2256743EB18}"/>
              </a:ext>
            </a:extLst>
          </p:cNvPr>
          <p:cNvSpPr>
            <a:spLocks noGrp="1"/>
          </p:cNvSpPr>
          <p:nvPr/>
        </p:nvSpPr>
        <p:spPr>
          <a:xfrm>
            <a:off x="4324350" y="2343150"/>
            <a:ext cx="1447800" cy="514350"/>
          </a:xfrm>
          <a:prstGeom prst="rect">
            <a:avLst/>
          </a:prstGeom>
          <a:solidFill>
            <a:srgbClr val="183B56"/>
          </a:solidFill>
          <a:ln w="9525">
            <a:solidFill>
              <a:srgbClr val="183B56"/>
            </a:solidFill>
            <a:prstDash val="solid"/>
          </a:ln>
        </p:spPr>
      </p:sp>
      <p:sp>
        <p:nvSpPr>
          <p:cNvPr id="12" name="contact-1-value-bg">
            <a:extLst>
              <a:ext uri="{FF2B5EF4-FFF2-40B4-BE49-F238E27FC236}">
                <a16:creationId xmlns:a16="http://schemas.microsoft.com/office/drawing/2014/main" id="{C3EFF131-8C8A-412A-8232-659AB76E764D}"/>
              </a:ext>
            </a:extLst>
          </p:cNvPr>
          <p:cNvSpPr>
            <a:spLocks noGrp="1"/>
          </p:cNvSpPr>
          <p:nvPr/>
        </p:nvSpPr>
        <p:spPr>
          <a:xfrm>
            <a:off x="5772150" y="2343150"/>
            <a:ext cx="1962150" cy="514350"/>
          </a:xfrm>
          <a:prstGeom prst="rect">
            <a:avLst/>
          </a:prstGeom>
          <a:solidFill>
            <a:srgbClr val="FFFFFF"/>
          </a:solidFill>
          <a:ln w="9525">
            <a:solidFill>
              <a:srgbClr val="C9D3D7"/>
            </a:solidFill>
            <a:prstDash val="solid"/>
          </a:ln>
        </p:spPr>
      </p:sp>
      <p:sp>
        <p:nvSpPr>
          <p:cNvPr id="13" name="contact-1-label">
            <a:extLst>
              <a:ext uri="{FF2B5EF4-FFF2-40B4-BE49-F238E27FC236}">
                <a16:creationId xmlns:a16="http://schemas.microsoft.com/office/drawing/2014/main" id="{F6AB3FB6-4947-4A76-854D-ACE0B2A556DD}"/>
              </a:ext>
            </a:extLst>
          </p:cNvPr>
          <p:cNvSpPr>
            <a:spLocks noGrp="1"/>
          </p:cNvSpPr>
          <p:nvPr/>
        </p:nvSpPr>
        <p:spPr>
          <a:xfrm>
            <a:off x="4391025" y="2447925"/>
            <a:ext cx="1314450" cy="285750"/>
          </a:xfrm>
          <a:prstGeom prst="rect">
            <a:avLst/>
          </a:prstGeom>
          <a:noFill/>
          <a:ln w="0">
            <a:noFill/>
            <a:prstDash val="solid"/>
          </a:ln>
        </p:spPr>
        <p:txBody>
          <a:bodyPr anchor="ctr"/>
          <a:lstStyle/>
          <a:p>
            <a:pPr algn="ctr">
              <a:defRPr sz="1050" b="1">
                <a:solidFill>
                  <a:srgbClr val="FFFFFF"/>
                </a:solidFill>
              </a:defRPr>
            </a:pPr>
            <a:r>
              <a:rPr lang="en-NZ" sz="1050" b="1" dirty="0">
                <a:solidFill>
                  <a:srgbClr val="FFFFFF"/>
                </a:solidFill>
              </a:rPr>
              <a:t>CHAIR</a:t>
            </a:r>
            <a:endParaRPr sz="1050" b="1" dirty="0">
              <a:solidFill>
                <a:srgbClr val="FFFFFF"/>
              </a:solidFill>
            </a:endParaRPr>
          </a:p>
        </p:txBody>
      </p:sp>
      <p:sp>
        <p:nvSpPr>
          <p:cNvPr id="14" name="contact-1-value">
            <a:extLst>
              <a:ext uri="{FF2B5EF4-FFF2-40B4-BE49-F238E27FC236}">
                <a16:creationId xmlns:a16="http://schemas.microsoft.com/office/drawing/2014/main" id="{22768466-A371-487B-AA42-B3B87B752F8A}"/>
              </a:ext>
            </a:extLst>
          </p:cNvPr>
          <p:cNvSpPr>
            <a:spLocks noGrp="1"/>
          </p:cNvSpPr>
          <p:nvPr/>
        </p:nvSpPr>
        <p:spPr>
          <a:xfrm>
            <a:off x="5848350" y="2447925"/>
            <a:ext cx="1809750" cy="285750"/>
          </a:xfrm>
          <a:prstGeom prst="rect">
            <a:avLst/>
          </a:prstGeom>
          <a:noFill/>
          <a:ln w="0">
            <a:noFill/>
            <a:prstDash val="solid"/>
          </a:ln>
        </p:spPr>
        <p:txBody>
          <a:bodyPr anchor="ctr"/>
          <a:lstStyle/>
          <a:p>
            <a:pPr algn="ctr">
              <a:defRPr sz="1200" b="1">
                <a:solidFill>
                  <a:srgbClr val="2E7D7B"/>
                </a:solidFill>
              </a:defRPr>
            </a:pPr>
            <a:r>
              <a:rPr sz="1200" b="1">
                <a:solidFill>
                  <a:srgbClr val="2E7D7B"/>
                </a:solidFill>
              </a:rPr>
              <a:t>027 303 0642</a:t>
            </a:r>
          </a:p>
        </p:txBody>
      </p:sp>
      <p:sp>
        <p:nvSpPr>
          <p:cNvPr id="15" name="contact-2-label-bg">
            <a:extLst>
              <a:ext uri="{FF2B5EF4-FFF2-40B4-BE49-F238E27FC236}">
                <a16:creationId xmlns:a16="http://schemas.microsoft.com/office/drawing/2014/main" id="{DB052555-4475-4E2D-9C5D-C453150B0E2F}"/>
              </a:ext>
            </a:extLst>
          </p:cNvPr>
          <p:cNvSpPr>
            <a:spLocks noGrp="1"/>
          </p:cNvSpPr>
          <p:nvPr/>
        </p:nvSpPr>
        <p:spPr>
          <a:xfrm>
            <a:off x="7924800" y="2343150"/>
            <a:ext cx="1447800" cy="514350"/>
          </a:xfrm>
          <a:prstGeom prst="rect">
            <a:avLst/>
          </a:prstGeom>
          <a:solidFill>
            <a:srgbClr val="183B56"/>
          </a:solidFill>
          <a:ln w="9525">
            <a:solidFill>
              <a:srgbClr val="183B56"/>
            </a:solidFill>
            <a:prstDash val="solid"/>
          </a:ln>
        </p:spPr>
      </p:sp>
      <p:sp>
        <p:nvSpPr>
          <p:cNvPr id="16" name="contact-2-value-bg">
            <a:extLst>
              <a:ext uri="{FF2B5EF4-FFF2-40B4-BE49-F238E27FC236}">
                <a16:creationId xmlns:a16="http://schemas.microsoft.com/office/drawing/2014/main" id="{4ABD6AAE-C122-49B5-92FA-2A8A3F82C8E2}"/>
              </a:ext>
            </a:extLst>
          </p:cNvPr>
          <p:cNvSpPr>
            <a:spLocks noGrp="1"/>
          </p:cNvSpPr>
          <p:nvPr/>
        </p:nvSpPr>
        <p:spPr>
          <a:xfrm>
            <a:off x="9372600" y="2343150"/>
            <a:ext cx="1962150" cy="514350"/>
          </a:xfrm>
          <a:prstGeom prst="rect">
            <a:avLst/>
          </a:prstGeom>
          <a:solidFill>
            <a:srgbClr val="FFFFFF"/>
          </a:solidFill>
          <a:ln w="9525">
            <a:solidFill>
              <a:srgbClr val="C9D3D7"/>
            </a:solidFill>
            <a:prstDash val="solid"/>
          </a:ln>
        </p:spPr>
      </p:sp>
      <p:sp>
        <p:nvSpPr>
          <p:cNvPr id="17" name="contact-2-label">
            <a:extLst>
              <a:ext uri="{FF2B5EF4-FFF2-40B4-BE49-F238E27FC236}">
                <a16:creationId xmlns:a16="http://schemas.microsoft.com/office/drawing/2014/main" id="{D7977F98-C1DF-4916-A11E-E01F84075339}"/>
              </a:ext>
            </a:extLst>
          </p:cNvPr>
          <p:cNvSpPr>
            <a:spLocks noGrp="1"/>
          </p:cNvSpPr>
          <p:nvPr/>
        </p:nvSpPr>
        <p:spPr>
          <a:xfrm>
            <a:off x="7991475" y="2447925"/>
            <a:ext cx="1314450" cy="28575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SECRETARY</a:t>
            </a:r>
          </a:p>
        </p:txBody>
      </p:sp>
      <p:sp>
        <p:nvSpPr>
          <p:cNvPr id="18" name="contact-2-value">
            <a:extLst>
              <a:ext uri="{FF2B5EF4-FFF2-40B4-BE49-F238E27FC236}">
                <a16:creationId xmlns:a16="http://schemas.microsoft.com/office/drawing/2014/main" id="{46C152AE-7850-40A8-BEE6-CCC0C9305E4A}"/>
              </a:ext>
            </a:extLst>
          </p:cNvPr>
          <p:cNvSpPr>
            <a:spLocks noGrp="1"/>
          </p:cNvSpPr>
          <p:nvPr/>
        </p:nvSpPr>
        <p:spPr>
          <a:xfrm>
            <a:off x="9448800" y="2447925"/>
            <a:ext cx="1809750" cy="285750"/>
          </a:xfrm>
          <a:prstGeom prst="rect">
            <a:avLst/>
          </a:prstGeom>
          <a:noFill/>
          <a:ln w="0">
            <a:noFill/>
            <a:prstDash val="solid"/>
          </a:ln>
        </p:spPr>
        <p:txBody>
          <a:bodyPr anchor="ctr"/>
          <a:lstStyle/>
          <a:p>
            <a:pPr algn="ctr">
              <a:defRPr sz="1200" b="1">
                <a:solidFill>
                  <a:srgbClr val="2E7D7B"/>
                </a:solidFill>
              </a:defRPr>
            </a:pPr>
            <a:r>
              <a:rPr sz="1200" b="1">
                <a:solidFill>
                  <a:srgbClr val="2E7D7B"/>
                </a:solidFill>
              </a:rPr>
              <a:t>027 337 4804</a:t>
            </a:r>
          </a:p>
        </p:txBody>
      </p:sp>
      <p:sp>
        <p:nvSpPr>
          <p:cNvPr id="19" name="reason-title">
            <a:extLst>
              <a:ext uri="{FF2B5EF4-FFF2-40B4-BE49-F238E27FC236}">
                <a16:creationId xmlns:a16="http://schemas.microsoft.com/office/drawing/2014/main" id="{2AADF7FD-F0C7-421E-9D96-5B5C15E3F5D1}"/>
              </a:ext>
            </a:extLst>
          </p:cNvPr>
          <p:cNvSpPr>
            <a:spLocks noGrp="1"/>
          </p:cNvSpPr>
          <p:nvPr/>
        </p:nvSpPr>
        <p:spPr>
          <a:xfrm>
            <a:off x="3181350" y="3011324"/>
            <a:ext cx="7239000" cy="333375"/>
          </a:xfrm>
          <a:prstGeom prst="rect">
            <a:avLst/>
          </a:prstGeom>
          <a:noFill/>
          <a:ln w="0">
            <a:noFill/>
            <a:prstDash val="solid"/>
          </a:ln>
        </p:spPr>
        <p:txBody>
          <a:bodyPr anchor="ctr"/>
          <a:lstStyle/>
          <a:p>
            <a:pPr algn="l">
              <a:defRPr sz="2025" b="1">
                <a:solidFill>
                  <a:srgbClr val="183B56"/>
                </a:solidFill>
              </a:defRPr>
            </a:pPr>
            <a:r>
              <a:rPr sz="2025" b="1" dirty="0">
                <a:solidFill>
                  <a:srgbClr val="183B56"/>
                </a:solidFill>
              </a:rPr>
              <a:t>Tell us why you are contacting the Society</a:t>
            </a:r>
          </a:p>
        </p:txBody>
      </p:sp>
      <p:sp>
        <p:nvSpPr>
          <p:cNvPr id="20" name="reason-copy">
            <a:extLst>
              <a:ext uri="{FF2B5EF4-FFF2-40B4-BE49-F238E27FC236}">
                <a16:creationId xmlns:a16="http://schemas.microsoft.com/office/drawing/2014/main" id="{EE0EB193-E5D4-45D3-B077-620BEEB83BC9}"/>
              </a:ext>
            </a:extLst>
          </p:cNvPr>
          <p:cNvSpPr>
            <a:spLocks noGrp="1"/>
          </p:cNvSpPr>
          <p:nvPr/>
        </p:nvSpPr>
        <p:spPr>
          <a:xfrm>
            <a:off x="2568411" y="3390899"/>
            <a:ext cx="7527696" cy="255751"/>
          </a:xfrm>
          <a:prstGeom prst="rect">
            <a:avLst/>
          </a:prstGeom>
          <a:noFill/>
          <a:ln w="0">
            <a:noFill/>
            <a:prstDash val="solid"/>
          </a:ln>
        </p:spPr>
        <p:txBody>
          <a:bodyPr anchor="ctr"/>
          <a:lstStyle/>
          <a:p>
            <a:pPr algn="l">
              <a:defRPr sz="1350" b="0">
                <a:solidFill>
                  <a:srgbClr val="263640"/>
                </a:solidFill>
              </a:defRPr>
            </a:pPr>
            <a:r>
              <a:rPr sz="1350" b="0" dirty="0">
                <a:solidFill>
                  <a:srgbClr val="263640"/>
                </a:solidFill>
              </a:rPr>
              <a:t>Please state the reason in your email subject line or at the beginning of your message.</a:t>
            </a:r>
          </a:p>
        </p:txBody>
      </p:sp>
      <p:sp>
        <p:nvSpPr>
          <p:cNvPr id="21" name="reason-0-bg">
            <a:extLst>
              <a:ext uri="{FF2B5EF4-FFF2-40B4-BE49-F238E27FC236}">
                <a16:creationId xmlns:a16="http://schemas.microsoft.com/office/drawing/2014/main" id="{51656680-7EB0-4005-B85C-1D14A99AD629}"/>
              </a:ext>
            </a:extLst>
          </p:cNvPr>
          <p:cNvSpPr>
            <a:spLocks noGrp="1"/>
          </p:cNvSpPr>
          <p:nvPr/>
        </p:nvSpPr>
        <p:spPr>
          <a:xfrm>
            <a:off x="723900" y="3733800"/>
            <a:ext cx="2514600" cy="876300"/>
          </a:xfrm>
          <a:prstGeom prst="rect">
            <a:avLst/>
          </a:prstGeom>
          <a:solidFill>
            <a:srgbClr val="F5F8F8"/>
          </a:solidFill>
          <a:ln w="9525">
            <a:solidFill>
              <a:srgbClr val="C9D3D7"/>
            </a:solidFill>
            <a:prstDash val="solid"/>
          </a:ln>
        </p:spPr>
      </p:sp>
      <p:sp>
        <p:nvSpPr>
          <p:cNvPr id="22" name="reason-0-title">
            <a:extLst>
              <a:ext uri="{FF2B5EF4-FFF2-40B4-BE49-F238E27FC236}">
                <a16:creationId xmlns:a16="http://schemas.microsoft.com/office/drawing/2014/main" id="{6018BF0C-8F06-4338-B6E6-276B219C9F28}"/>
              </a:ext>
            </a:extLst>
          </p:cNvPr>
          <p:cNvSpPr>
            <a:spLocks noGrp="1"/>
          </p:cNvSpPr>
          <p:nvPr/>
        </p:nvSpPr>
        <p:spPr>
          <a:xfrm>
            <a:off x="876300" y="3829050"/>
            <a:ext cx="2209800" cy="247650"/>
          </a:xfrm>
          <a:prstGeom prst="rect">
            <a:avLst/>
          </a:prstGeom>
          <a:noFill/>
          <a:ln w="0">
            <a:noFill/>
            <a:prstDash val="solid"/>
          </a:ln>
        </p:spPr>
        <p:txBody>
          <a:bodyPr anchor="ctr"/>
          <a:lstStyle/>
          <a:p>
            <a:pPr algn="l">
              <a:defRPr sz="1500" b="1">
                <a:solidFill>
                  <a:srgbClr val="2E7D7B"/>
                </a:solidFill>
              </a:defRPr>
            </a:pPr>
            <a:r>
              <a:rPr sz="1500" b="1">
                <a:solidFill>
                  <a:srgbClr val="2E7D7B"/>
                </a:solidFill>
              </a:rPr>
              <a:t>Donation</a:t>
            </a:r>
          </a:p>
        </p:txBody>
      </p:sp>
      <p:sp>
        <p:nvSpPr>
          <p:cNvPr id="23" name="reason-0-copy">
            <a:extLst>
              <a:ext uri="{FF2B5EF4-FFF2-40B4-BE49-F238E27FC236}">
                <a16:creationId xmlns:a16="http://schemas.microsoft.com/office/drawing/2014/main" id="{7EA78F68-5030-40FA-9969-5771823AB34E}"/>
              </a:ext>
            </a:extLst>
          </p:cNvPr>
          <p:cNvSpPr>
            <a:spLocks noGrp="1"/>
          </p:cNvSpPr>
          <p:nvPr/>
        </p:nvSpPr>
        <p:spPr>
          <a:xfrm>
            <a:off x="876300" y="4095750"/>
            <a:ext cx="2209800" cy="419100"/>
          </a:xfrm>
          <a:prstGeom prst="rect">
            <a:avLst/>
          </a:prstGeom>
          <a:noFill/>
          <a:ln w="0">
            <a:noFill/>
            <a:prstDash val="solid"/>
          </a:ln>
        </p:spPr>
        <p:txBody>
          <a:bodyPr anchor="ctr"/>
          <a:lstStyle/>
          <a:p>
            <a:pPr algn="l">
              <a:defRPr sz="1163" b="0">
                <a:solidFill>
                  <a:srgbClr val="263640"/>
                </a:solidFill>
              </a:defRPr>
            </a:pPr>
            <a:r>
              <a:rPr sz="1163" b="0" dirty="0">
                <a:solidFill>
                  <a:srgbClr val="263640"/>
                </a:solidFill>
              </a:rPr>
              <a:t>Make a donation or discuss supporting the Society.</a:t>
            </a:r>
          </a:p>
        </p:txBody>
      </p:sp>
      <p:sp>
        <p:nvSpPr>
          <p:cNvPr id="24" name="reason-1-bg">
            <a:extLst>
              <a:ext uri="{FF2B5EF4-FFF2-40B4-BE49-F238E27FC236}">
                <a16:creationId xmlns:a16="http://schemas.microsoft.com/office/drawing/2014/main" id="{BCA4781A-88DB-43B8-9C61-AB5A5C38680B}"/>
              </a:ext>
            </a:extLst>
          </p:cNvPr>
          <p:cNvSpPr>
            <a:spLocks noGrp="1"/>
          </p:cNvSpPr>
          <p:nvPr/>
        </p:nvSpPr>
        <p:spPr>
          <a:xfrm>
            <a:off x="3409950" y="3733800"/>
            <a:ext cx="2514600" cy="876300"/>
          </a:xfrm>
          <a:prstGeom prst="rect">
            <a:avLst/>
          </a:prstGeom>
          <a:solidFill>
            <a:srgbClr val="F5F8F8"/>
          </a:solidFill>
          <a:ln w="9525">
            <a:solidFill>
              <a:srgbClr val="C9D3D7"/>
            </a:solidFill>
            <a:prstDash val="solid"/>
          </a:ln>
        </p:spPr>
      </p:sp>
      <p:sp>
        <p:nvSpPr>
          <p:cNvPr id="25" name="reason-1-title">
            <a:extLst>
              <a:ext uri="{FF2B5EF4-FFF2-40B4-BE49-F238E27FC236}">
                <a16:creationId xmlns:a16="http://schemas.microsoft.com/office/drawing/2014/main" id="{652400A7-6309-4DB3-8A41-6C03113C74A2}"/>
              </a:ext>
            </a:extLst>
          </p:cNvPr>
          <p:cNvSpPr>
            <a:spLocks noGrp="1"/>
          </p:cNvSpPr>
          <p:nvPr/>
        </p:nvSpPr>
        <p:spPr>
          <a:xfrm>
            <a:off x="3562350" y="3829050"/>
            <a:ext cx="2209800" cy="247650"/>
          </a:xfrm>
          <a:prstGeom prst="rect">
            <a:avLst/>
          </a:prstGeom>
          <a:noFill/>
          <a:ln w="0">
            <a:noFill/>
            <a:prstDash val="solid"/>
          </a:ln>
        </p:spPr>
        <p:txBody>
          <a:bodyPr anchor="ctr"/>
          <a:lstStyle/>
          <a:p>
            <a:pPr algn="l">
              <a:defRPr sz="1500" b="1">
                <a:solidFill>
                  <a:srgbClr val="2E7D7B"/>
                </a:solidFill>
              </a:defRPr>
            </a:pPr>
            <a:r>
              <a:rPr sz="1500" b="1">
                <a:solidFill>
                  <a:srgbClr val="2E7D7B"/>
                </a:solidFill>
              </a:rPr>
              <a:t>Funding request</a:t>
            </a:r>
          </a:p>
        </p:txBody>
      </p:sp>
      <p:sp>
        <p:nvSpPr>
          <p:cNvPr id="26" name="reason-1-copy">
            <a:extLst>
              <a:ext uri="{FF2B5EF4-FFF2-40B4-BE49-F238E27FC236}">
                <a16:creationId xmlns:a16="http://schemas.microsoft.com/office/drawing/2014/main" id="{CFD0FB8F-AA79-444A-8104-6BFBF9C91A12}"/>
              </a:ext>
            </a:extLst>
          </p:cNvPr>
          <p:cNvSpPr>
            <a:spLocks noGrp="1"/>
          </p:cNvSpPr>
          <p:nvPr/>
        </p:nvSpPr>
        <p:spPr>
          <a:xfrm>
            <a:off x="3562350" y="4095750"/>
            <a:ext cx="2209800" cy="419100"/>
          </a:xfrm>
          <a:prstGeom prst="rect">
            <a:avLst/>
          </a:prstGeom>
          <a:noFill/>
          <a:ln w="0">
            <a:noFill/>
            <a:prstDash val="solid"/>
          </a:ln>
        </p:spPr>
        <p:txBody>
          <a:bodyPr anchor="ctr"/>
          <a:lstStyle/>
          <a:p>
            <a:pPr algn="l">
              <a:defRPr sz="1163" b="0">
                <a:solidFill>
                  <a:srgbClr val="263640"/>
                </a:solidFill>
              </a:defRPr>
            </a:pPr>
            <a:r>
              <a:rPr sz="1163" b="0">
                <a:solidFill>
                  <a:srgbClr val="263640"/>
                </a:solidFill>
              </a:rPr>
              <a:t>Ask about funding or submit a request for support.</a:t>
            </a:r>
          </a:p>
        </p:txBody>
      </p:sp>
      <p:sp>
        <p:nvSpPr>
          <p:cNvPr id="27" name="reason-2-bg">
            <a:extLst>
              <a:ext uri="{FF2B5EF4-FFF2-40B4-BE49-F238E27FC236}">
                <a16:creationId xmlns:a16="http://schemas.microsoft.com/office/drawing/2014/main" id="{20A80EF4-2B14-47BF-9122-69E98C689C2F}"/>
              </a:ext>
            </a:extLst>
          </p:cNvPr>
          <p:cNvSpPr>
            <a:spLocks noGrp="1"/>
          </p:cNvSpPr>
          <p:nvPr/>
        </p:nvSpPr>
        <p:spPr>
          <a:xfrm>
            <a:off x="6096000" y="3733800"/>
            <a:ext cx="2514600" cy="876300"/>
          </a:xfrm>
          <a:prstGeom prst="rect">
            <a:avLst/>
          </a:prstGeom>
          <a:solidFill>
            <a:srgbClr val="F5F8F8"/>
          </a:solidFill>
          <a:ln w="9525">
            <a:solidFill>
              <a:srgbClr val="C9D3D7"/>
            </a:solidFill>
            <a:prstDash val="solid"/>
          </a:ln>
        </p:spPr>
      </p:sp>
      <p:sp>
        <p:nvSpPr>
          <p:cNvPr id="28" name="reason-2-title">
            <a:extLst>
              <a:ext uri="{FF2B5EF4-FFF2-40B4-BE49-F238E27FC236}">
                <a16:creationId xmlns:a16="http://schemas.microsoft.com/office/drawing/2014/main" id="{CB7B88CD-C7F4-4E40-905D-DA890AE79804}"/>
              </a:ext>
            </a:extLst>
          </p:cNvPr>
          <p:cNvSpPr>
            <a:spLocks noGrp="1"/>
          </p:cNvSpPr>
          <p:nvPr/>
        </p:nvSpPr>
        <p:spPr>
          <a:xfrm>
            <a:off x="6248400" y="3829050"/>
            <a:ext cx="2209800" cy="247650"/>
          </a:xfrm>
          <a:prstGeom prst="rect">
            <a:avLst/>
          </a:prstGeom>
          <a:noFill/>
          <a:ln w="0">
            <a:noFill/>
            <a:prstDash val="solid"/>
          </a:ln>
        </p:spPr>
        <p:txBody>
          <a:bodyPr anchor="ctr"/>
          <a:lstStyle/>
          <a:p>
            <a:pPr algn="l">
              <a:defRPr sz="1500" b="1">
                <a:solidFill>
                  <a:srgbClr val="2E7D7B"/>
                </a:solidFill>
              </a:defRPr>
            </a:pPr>
            <a:r>
              <a:rPr sz="1500" b="1">
                <a:solidFill>
                  <a:srgbClr val="2E7D7B"/>
                </a:solidFill>
              </a:rPr>
              <a:t>General enquiry</a:t>
            </a:r>
          </a:p>
        </p:txBody>
      </p:sp>
      <p:sp>
        <p:nvSpPr>
          <p:cNvPr id="29" name="reason-2-copy">
            <a:extLst>
              <a:ext uri="{FF2B5EF4-FFF2-40B4-BE49-F238E27FC236}">
                <a16:creationId xmlns:a16="http://schemas.microsoft.com/office/drawing/2014/main" id="{E1FD7EF3-3C8A-436C-88C5-191F6E0E5D30}"/>
              </a:ext>
            </a:extLst>
          </p:cNvPr>
          <p:cNvSpPr>
            <a:spLocks noGrp="1"/>
          </p:cNvSpPr>
          <p:nvPr/>
        </p:nvSpPr>
        <p:spPr>
          <a:xfrm>
            <a:off x="6248400" y="4095750"/>
            <a:ext cx="2209800" cy="419100"/>
          </a:xfrm>
          <a:prstGeom prst="rect">
            <a:avLst/>
          </a:prstGeom>
          <a:noFill/>
          <a:ln w="0">
            <a:noFill/>
            <a:prstDash val="solid"/>
          </a:ln>
        </p:spPr>
        <p:txBody>
          <a:bodyPr anchor="ctr"/>
          <a:lstStyle/>
          <a:p>
            <a:pPr algn="l">
              <a:defRPr sz="1163" b="0">
                <a:solidFill>
                  <a:srgbClr val="263640"/>
                </a:solidFill>
              </a:defRPr>
            </a:pPr>
            <a:r>
              <a:rPr sz="1163" b="0" dirty="0">
                <a:solidFill>
                  <a:srgbClr val="263640"/>
                </a:solidFill>
              </a:rPr>
              <a:t>Ask about the Society, its work or getting involved.</a:t>
            </a:r>
          </a:p>
        </p:txBody>
      </p:sp>
      <p:sp>
        <p:nvSpPr>
          <p:cNvPr id="30" name="reason-3-bg">
            <a:extLst>
              <a:ext uri="{FF2B5EF4-FFF2-40B4-BE49-F238E27FC236}">
                <a16:creationId xmlns:a16="http://schemas.microsoft.com/office/drawing/2014/main" id="{25A81202-58F0-49AB-A460-A587A7D66630}"/>
              </a:ext>
            </a:extLst>
          </p:cNvPr>
          <p:cNvSpPr>
            <a:spLocks noGrp="1"/>
          </p:cNvSpPr>
          <p:nvPr/>
        </p:nvSpPr>
        <p:spPr>
          <a:xfrm>
            <a:off x="8782050" y="3733800"/>
            <a:ext cx="2514600" cy="876300"/>
          </a:xfrm>
          <a:prstGeom prst="rect">
            <a:avLst/>
          </a:prstGeom>
          <a:solidFill>
            <a:srgbClr val="F5F8F8"/>
          </a:solidFill>
          <a:ln w="9525">
            <a:solidFill>
              <a:srgbClr val="C9D3D7"/>
            </a:solidFill>
            <a:prstDash val="solid"/>
          </a:ln>
        </p:spPr>
      </p:sp>
      <p:sp>
        <p:nvSpPr>
          <p:cNvPr id="31" name="reason-3-title">
            <a:extLst>
              <a:ext uri="{FF2B5EF4-FFF2-40B4-BE49-F238E27FC236}">
                <a16:creationId xmlns:a16="http://schemas.microsoft.com/office/drawing/2014/main" id="{AB25715B-EE2D-40C6-B8BF-798B3E6CB1C3}"/>
              </a:ext>
            </a:extLst>
          </p:cNvPr>
          <p:cNvSpPr>
            <a:spLocks noGrp="1"/>
          </p:cNvSpPr>
          <p:nvPr/>
        </p:nvSpPr>
        <p:spPr>
          <a:xfrm>
            <a:off x="8934450" y="3829050"/>
            <a:ext cx="2209800" cy="247650"/>
          </a:xfrm>
          <a:prstGeom prst="rect">
            <a:avLst/>
          </a:prstGeom>
          <a:noFill/>
          <a:ln w="0">
            <a:noFill/>
            <a:prstDash val="solid"/>
          </a:ln>
        </p:spPr>
        <p:txBody>
          <a:bodyPr anchor="ctr"/>
          <a:lstStyle/>
          <a:p>
            <a:pPr algn="l">
              <a:defRPr sz="1500" b="1">
                <a:solidFill>
                  <a:srgbClr val="2E7D7B"/>
                </a:solidFill>
              </a:defRPr>
            </a:pPr>
            <a:r>
              <a:rPr lang="en-NZ" sz="1500" b="1" dirty="0" err="1">
                <a:solidFill>
                  <a:srgbClr val="2E7D7B"/>
                </a:solidFill>
              </a:rPr>
              <a:t>Philanthrophy</a:t>
            </a:r>
            <a:endParaRPr sz="1500" b="1" dirty="0">
              <a:solidFill>
                <a:srgbClr val="2E7D7B"/>
              </a:solidFill>
            </a:endParaRPr>
          </a:p>
        </p:txBody>
      </p:sp>
      <p:sp>
        <p:nvSpPr>
          <p:cNvPr id="32" name="reason-3-copy">
            <a:extLst>
              <a:ext uri="{FF2B5EF4-FFF2-40B4-BE49-F238E27FC236}">
                <a16:creationId xmlns:a16="http://schemas.microsoft.com/office/drawing/2014/main" id="{EFE47D61-916F-495E-B9C2-1907A3C0A078}"/>
              </a:ext>
            </a:extLst>
          </p:cNvPr>
          <p:cNvSpPr>
            <a:spLocks noGrp="1"/>
          </p:cNvSpPr>
          <p:nvPr/>
        </p:nvSpPr>
        <p:spPr>
          <a:xfrm>
            <a:off x="8934450" y="4095750"/>
            <a:ext cx="2209800" cy="419100"/>
          </a:xfrm>
          <a:prstGeom prst="rect">
            <a:avLst/>
          </a:prstGeom>
          <a:noFill/>
          <a:ln w="0">
            <a:noFill/>
            <a:prstDash val="solid"/>
          </a:ln>
        </p:spPr>
        <p:txBody>
          <a:bodyPr anchor="ctr"/>
          <a:lstStyle/>
          <a:p>
            <a:pPr algn="l">
              <a:defRPr sz="1163" b="0">
                <a:solidFill>
                  <a:srgbClr val="263640"/>
                </a:solidFill>
              </a:defRPr>
            </a:pPr>
            <a:endParaRPr sz="1163" b="0" dirty="0">
              <a:solidFill>
                <a:srgbClr val="263640"/>
              </a:solidFill>
            </a:endParaRPr>
          </a:p>
        </p:txBody>
      </p:sp>
      <p:sp>
        <p:nvSpPr>
          <p:cNvPr id="33" name="include-title">
            <a:extLst>
              <a:ext uri="{FF2B5EF4-FFF2-40B4-BE49-F238E27FC236}">
                <a16:creationId xmlns:a16="http://schemas.microsoft.com/office/drawing/2014/main" id="{6DFED111-0C11-44B9-BE7A-33A076D2F876}"/>
              </a:ext>
            </a:extLst>
          </p:cNvPr>
          <p:cNvSpPr>
            <a:spLocks noGrp="1"/>
          </p:cNvSpPr>
          <p:nvPr/>
        </p:nvSpPr>
        <p:spPr>
          <a:xfrm>
            <a:off x="723900" y="4810125"/>
            <a:ext cx="2286000" cy="285750"/>
          </a:xfrm>
          <a:prstGeom prst="rect">
            <a:avLst/>
          </a:prstGeom>
          <a:noFill/>
          <a:ln w="0">
            <a:noFill/>
            <a:prstDash val="solid"/>
          </a:ln>
        </p:spPr>
        <p:txBody>
          <a:bodyPr anchor="ctr"/>
          <a:lstStyle/>
          <a:p>
            <a:pPr algn="l">
              <a:defRPr sz="1800" b="1">
                <a:solidFill>
                  <a:srgbClr val="183B56"/>
                </a:solidFill>
              </a:defRPr>
            </a:pPr>
            <a:r>
              <a:rPr sz="1800" b="1">
                <a:solidFill>
                  <a:srgbClr val="183B56"/>
                </a:solidFill>
              </a:rPr>
              <a:t>Please include</a:t>
            </a:r>
          </a:p>
        </p:txBody>
      </p:sp>
      <p:sp>
        <p:nvSpPr>
          <p:cNvPr id="34" name="include-copy">
            <a:extLst>
              <a:ext uri="{FF2B5EF4-FFF2-40B4-BE49-F238E27FC236}">
                <a16:creationId xmlns:a16="http://schemas.microsoft.com/office/drawing/2014/main" id="{4BF8A6F9-3160-48A0-9857-128AD59CB1E7}"/>
              </a:ext>
            </a:extLst>
          </p:cNvPr>
          <p:cNvSpPr>
            <a:spLocks noGrp="1"/>
          </p:cNvSpPr>
          <p:nvPr/>
        </p:nvSpPr>
        <p:spPr>
          <a:xfrm>
            <a:off x="723900" y="5158776"/>
            <a:ext cx="8334375" cy="609600"/>
          </a:xfrm>
          <a:prstGeom prst="rect">
            <a:avLst/>
          </a:prstGeom>
          <a:noFill/>
          <a:ln w="0">
            <a:noFill/>
            <a:prstDash val="solid"/>
          </a:ln>
        </p:spPr>
        <p:txBody>
          <a:bodyPr anchor="ctr"/>
          <a:lstStyle/>
          <a:p>
            <a:pPr algn="l">
              <a:defRPr sz="1275" b="0">
                <a:solidFill>
                  <a:srgbClr val="263640"/>
                </a:solidFill>
              </a:defRPr>
            </a:pPr>
            <a:r>
              <a:rPr sz="1275" b="0">
                <a:solidFill>
                  <a:srgbClr val="263640"/>
                </a:solidFill>
              </a:rPr>
              <a:t>• Your full name and preferred contact details    • The reason for your email or call</a:t>
            </a:r>
          </a:p>
          <a:p>
            <a:pPr algn="l">
              <a:defRPr sz="1275" b="0">
                <a:solidFill>
                  <a:srgbClr val="263640"/>
                </a:solidFill>
              </a:defRPr>
            </a:pPr>
            <a:r>
              <a:rPr sz="1275" b="0">
                <a:solidFill>
                  <a:srgbClr val="263640"/>
                </a:solidFill>
              </a:rPr>
              <a:t>• A brief summary of your enquiry or request    • Any relevant organisation or supporting information</a:t>
            </a:r>
          </a:p>
        </p:txBody>
      </p:sp>
      <p:sp>
        <p:nvSpPr>
          <p:cNvPr id="35" name="online-bg">
            <a:extLst>
              <a:ext uri="{FF2B5EF4-FFF2-40B4-BE49-F238E27FC236}">
                <a16:creationId xmlns:a16="http://schemas.microsoft.com/office/drawing/2014/main" id="{6BFAE64C-9121-4688-B148-CE5B3EFAEE1B}"/>
              </a:ext>
            </a:extLst>
          </p:cNvPr>
          <p:cNvSpPr>
            <a:spLocks noGrp="1"/>
          </p:cNvSpPr>
          <p:nvPr/>
        </p:nvSpPr>
        <p:spPr>
          <a:xfrm>
            <a:off x="9220200" y="4914900"/>
            <a:ext cx="2076450" cy="723900"/>
          </a:xfrm>
          <a:prstGeom prst="roundRect">
            <a:avLst>
              <a:gd name="adj" fmla="val 15789"/>
            </a:avLst>
          </a:prstGeom>
          <a:solidFill>
            <a:srgbClr val="92D050"/>
          </a:solidFill>
          <a:ln w="9525">
            <a:solidFill>
              <a:srgbClr val="2E7D7B"/>
            </a:solidFill>
            <a:prstDash val="solid"/>
          </a:ln>
        </p:spPr>
        <p:txBody>
          <a:bodyPr/>
          <a:lstStyle/>
          <a:p>
            <a:endParaRPr lang="en-NZ" dirty="0"/>
          </a:p>
        </p:txBody>
      </p:sp>
      <p:sp>
        <p:nvSpPr>
          <p:cNvPr id="36" name="online-label">
            <a:extLst>
              <a:ext uri="{FF2B5EF4-FFF2-40B4-BE49-F238E27FC236}">
                <a16:creationId xmlns:a16="http://schemas.microsoft.com/office/drawing/2014/main" id="{B1C447DE-0F28-4F0F-A549-7E00D7B9FAB3}"/>
              </a:ext>
            </a:extLst>
          </p:cNvPr>
          <p:cNvSpPr>
            <a:spLocks noGrp="1"/>
          </p:cNvSpPr>
          <p:nvPr/>
        </p:nvSpPr>
        <p:spPr>
          <a:xfrm>
            <a:off x="9353550" y="5019675"/>
            <a:ext cx="1809750" cy="209550"/>
          </a:xfrm>
          <a:prstGeom prst="rect">
            <a:avLst/>
          </a:prstGeom>
          <a:noFill/>
          <a:ln w="0">
            <a:noFill/>
            <a:prstDash val="solid"/>
          </a:ln>
        </p:spPr>
        <p:txBody>
          <a:bodyPr anchor="ctr"/>
          <a:lstStyle/>
          <a:p>
            <a:pPr algn="ctr">
              <a:defRPr sz="1050" b="1">
                <a:solidFill>
                  <a:srgbClr val="183B56"/>
                </a:solidFill>
              </a:defRPr>
            </a:pPr>
            <a:r>
              <a:rPr sz="1050" b="1">
                <a:solidFill>
                  <a:srgbClr val="183B56"/>
                </a:solidFill>
              </a:rPr>
              <a:t>ONLINE CONTACT PAGE</a:t>
            </a:r>
          </a:p>
        </p:txBody>
      </p:sp>
      <p:sp>
        <p:nvSpPr>
          <p:cNvPr id="37" name="online-link">
            <a:extLst>
              <a:ext uri="{FF2B5EF4-FFF2-40B4-BE49-F238E27FC236}">
                <a16:creationId xmlns:a16="http://schemas.microsoft.com/office/drawing/2014/main" id="{299559F2-8B5E-42F2-88BF-18AAFDC79144}"/>
              </a:ext>
            </a:extLst>
          </p:cNvPr>
          <p:cNvSpPr>
            <a:spLocks noGrp="1"/>
          </p:cNvSpPr>
          <p:nvPr/>
        </p:nvSpPr>
        <p:spPr>
          <a:xfrm>
            <a:off x="9353550" y="5257800"/>
            <a:ext cx="1809750" cy="266700"/>
          </a:xfrm>
          <a:prstGeom prst="rect">
            <a:avLst/>
          </a:prstGeom>
          <a:noFill/>
          <a:ln w="0">
            <a:noFill/>
            <a:prstDash val="solid"/>
          </a:ln>
        </p:spPr>
        <p:txBody>
          <a:bodyPr anchor="ctr"/>
          <a:lstStyle/>
          <a:p>
            <a:pPr algn="ctr">
              <a:defRPr sz="1500" b="1">
                <a:solidFill>
                  <a:srgbClr val="2E7D7B"/>
                </a:solidFill>
              </a:defRPr>
            </a:pPr>
            <a:r>
              <a:rPr sz="1500" b="1">
                <a:solidFill>
                  <a:srgbClr val="2E7D7B"/>
                </a:solidFill>
              </a:rPr>
              <a:t>Contact us</a:t>
            </a:r>
          </a:p>
        </p:txBody>
      </p:sp>
      <p:sp>
        <p:nvSpPr>
          <p:cNvPr id="38" name="footer">
            <a:extLst>
              <a:ext uri="{FF2B5EF4-FFF2-40B4-BE49-F238E27FC236}">
                <a16:creationId xmlns:a16="http://schemas.microsoft.com/office/drawing/2014/main" id="{FE7FF028-87E3-444E-A2C5-2CE40CE3D0FC}"/>
              </a:ext>
            </a:extLst>
          </p:cNvPr>
          <p:cNvSpPr>
            <a:spLocks noGrp="1"/>
          </p:cNvSpPr>
          <p:nvPr/>
        </p:nvSpPr>
        <p:spPr>
          <a:xfrm>
            <a:off x="2857500" y="6381750"/>
            <a:ext cx="6477000" cy="171450"/>
          </a:xfrm>
          <a:prstGeom prst="rect">
            <a:avLst/>
          </a:prstGeom>
          <a:noFill/>
          <a:ln w="0">
            <a:noFill/>
            <a:prstDash val="solid"/>
          </a:ln>
        </p:spPr>
        <p:txBody>
          <a:bodyPr anchor="ctr"/>
          <a:lstStyle/>
          <a:p>
            <a:pPr algn="ctr">
              <a:defRPr sz="975" b="0">
                <a:solidFill>
                  <a:srgbClr val="5E6B73"/>
                </a:solidFill>
              </a:defRPr>
            </a:pPr>
            <a:r>
              <a:rPr sz="975" b="0">
                <a:solidFill>
                  <a:srgbClr val="5E6B73"/>
                </a:solidFill>
              </a:rPr>
              <a:t>Taupō Hospital &amp; Health Society  |  Contact the Society</a:t>
            </a:r>
          </a:p>
        </p:txBody>
      </p:sp>
      <p:sp>
        <p:nvSpPr>
          <p:cNvPr id="40" name="Rectangle: Rounded Corners 39">
            <a:extLst>
              <a:ext uri="{FF2B5EF4-FFF2-40B4-BE49-F238E27FC236}">
                <a16:creationId xmlns:a16="http://schemas.microsoft.com/office/drawing/2014/main" id="{8EF035F3-8B28-E78C-EE5D-DE7DCF5759C8}"/>
              </a:ext>
            </a:extLst>
          </p:cNvPr>
          <p:cNvSpPr/>
          <p:nvPr/>
        </p:nvSpPr>
        <p:spPr>
          <a:xfrm>
            <a:off x="484414" y="277932"/>
            <a:ext cx="1763486" cy="579318"/>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t>Get in Touch</a:t>
            </a:r>
          </a:p>
        </p:txBody>
      </p:sp>
      <p:sp>
        <p:nvSpPr>
          <p:cNvPr id="41" name="reason-0-copy">
            <a:extLst>
              <a:ext uri="{FF2B5EF4-FFF2-40B4-BE49-F238E27FC236}">
                <a16:creationId xmlns:a16="http://schemas.microsoft.com/office/drawing/2014/main" id="{1421E6D0-9A35-9A62-C141-212A3464EF4B}"/>
              </a:ext>
            </a:extLst>
          </p:cNvPr>
          <p:cNvSpPr>
            <a:spLocks noGrp="1"/>
          </p:cNvSpPr>
          <p:nvPr/>
        </p:nvSpPr>
        <p:spPr>
          <a:xfrm>
            <a:off x="8818712" y="4114800"/>
            <a:ext cx="2209800" cy="419100"/>
          </a:xfrm>
          <a:prstGeom prst="rect">
            <a:avLst/>
          </a:prstGeom>
          <a:noFill/>
          <a:ln w="0">
            <a:noFill/>
            <a:prstDash val="solid"/>
          </a:ln>
        </p:spPr>
        <p:txBody>
          <a:bodyPr anchor="ctr"/>
          <a:lstStyle/>
          <a:p>
            <a:pPr algn="l">
              <a:defRPr sz="1163" b="0">
                <a:solidFill>
                  <a:srgbClr val="263640"/>
                </a:solidFill>
              </a:defRPr>
            </a:pPr>
            <a:r>
              <a:rPr lang="en-NZ" sz="1163" dirty="0">
                <a:solidFill>
                  <a:srgbClr val="263640"/>
                </a:solidFill>
              </a:rPr>
              <a:t>D</a:t>
            </a:r>
            <a:r>
              <a:rPr sz="1163" b="0" dirty="0" err="1">
                <a:solidFill>
                  <a:srgbClr val="263640"/>
                </a:solidFill>
              </a:rPr>
              <a:t>iscuss</a:t>
            </a:r>
            <a:r>
              <a:rPr sz="1163" b="0" dirty="0">
                <a:solidFill>
                  <a:srgbClr val="263640"/>
                </a:solidFill>
              </a:rPr>
              <a:t> supporting the Society.</a:t>
            </a:r>
          </a:p>
        </p:txBody>
      </p:sp>
    </p:spTree>
    <p:extLst>
      <p:ext uri="{BB962C8B-B14F-4D97-AF65-F5344CB8AC3E}">
        <p14:creationId xmlns:p14="http://schemas.microsoft.com/office/powerpoint/2010/main" val="1705829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FD0A0-192F-0639-22D6-55F565103A3B}"/>
              </a:ext>
            </a:extLst>
          </p:cNvPr>
          <p:cNvSpPr/>
          <p:nvPr/>
        </p:nvSpPr>
        <p:spPr>
          <a:xfrm>
            <a:off x="10069286" y="1122363"/>
            <a:ext cx="1881218" cy="10003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4" name="Picture 3">
            <a:extLst>
              <a:ext uri="{FF2B5EF4-FFF2-40B4-BE49-F238E27FC236}">
                <a16:creationId xmlns:a16="http://schemas.microsoft.com/office/drawing/2014/main" id="{3A15DC5D-2EDF-31A5-B5F7-79CF3B6EEF99}"/>
              </a:ext>
            </a:extLst>
          </p:cNvPr>
          <p:cNvPicPr>
            <a:picLocks noChangeAspect="1"/>
          </p:cNvPicPr>
          <p:nvPr/>
        </p:nvPicPr>
        <p:blipFill>
          <a:blip r:embed="rId2"/>
          <a:stretch>
            <a:fillRect/>
          </a:stretch>
        </p:blipFill>
        <p:spPr>
          <a:xfrm>
            <a:off x="241496" y="1742307"/>
            <a:ext cx="11709008" cy="1505843"/>
          </a:xfrm>
          <a:prstGeom prst="rect">
            <a:avLst/>
          </a:prstGeom>
        </p:spPr>
      </p:pic>
      <p:sp>
        <p:nvSpPr>
          <p:cNvPr id="7" name="TextBox 6">
            <a:extLst>
              <a:ext uri="{FF2B5EF4-FFF2-40B4-BE49-F238E27FC236}">
                <a16:creationId xmlns:a16="http://schemas.microsoft.com/office/drawing/2014/main" id="{57C29298-19CF-0937-41A4-CE87776C1A67}"/>
              </a:ext>
            </a:extLst>
          </p:cNvPr>
          <p:cNvSpPr txBox="1"/>
          <p:nvPr/>
        </p:nvSpPr>
        <p:spPr>
          <a:xfrm>
            <a:off x="447147" y="1931562"/>
            <a:ext cx="11503357" cy="707886"/>
          </a:xfrm>
          <a:prstGeom prst="rect">
            <a:avLst/>
          </a:prstGeom>
          <a:noFill/>
        </p:spPr>
        <p:txBody>
          <a:bodyPr wrap="square" rtlCol="0">
            <a:spAutoFit/>
          </a:bodyPr>
          <a:lstStyle/>
          <a:p>
            <a:pPr algn="ctr"/>
            <a:r>
              <a:rPr lang="en-NZ" sz="4000" b="1" dirty="0">
                <a:solidFill>
                  <a:schemeClr val="bg1"/>
                </a:solidFill>
              </a:rPr>
              <a:t>Our Hospital/</a:t>
            </a:r>
            <a:r>
              <a:rPr lang="en-NZ" sz="4000" dirty="0">
                <a:solidFill>
                  <a:schemeClr val="bg1">
                    <a:alpha val="45000"/>
                  </a:schemeClr>
                </a:solidFill>
              </a:rPr>
              <a:t>Ā </a:t>
            </a:r>
            <a:r>
              <a:rPr lang="en-NZ" sz="4000" dirty="0" err="1">
                <a:solidFill>
                  <a:schemeClr val="bg1">
                    <a:alpha val="45000"/>
                  </a:schemeClr>
                </a:solidFill>
              </a:rPr>
              <a:t>mātou</a:t>
            </a:r>
            <a:r>
              <a:rPr lang="en-NZ" sz="4000" dirty="0">
                <a:solidFill>
                  <a:schemeClr val="bg1">
                    <a:alpha val="45000"/>
                  </a:schemeClr>
                </a:solidFill>
              </a:rPr>
              <a:t> </a:t>
            </a:r>
            <a:r>
              <a:rPr lang="en-NZ" sz="4000" dirty="0" err="1">
                <a:solidFill>
                  <a:schemeClr val="bg1">
                    <a:alpha val="45000"/>
                  </a:schemeClr>
                </a:solidFill>
              </a:rPr>
              <a:t>Hōhipera</a:t>
            </a:r>
            <a:endParaRPr lang="en-NZ" sz="4000" dirty="0">
              <a:solidFill>
                <a:schemeClr val="bg1">
                  <a:alpha val="45000"/>
                </a:schemeClr>
              </a:solidFill>
            </a:endParaRPr>
          </a:p>
        </p:txBody>
      </p:sp>
      <p:sp>
        <p:nvSpPr>
          <p:cNvPr id="8" name="TextBox 7">
            <a:extLst>
              <a:ext uri="{FF2B5EF4-FFF2-40B4-BE49-F238E27FC236}">
                <a16:creationId xmlns:a16="http://schemas.microsoft.com/office/drawing/2014/main" id="{2DF17723-0913-8EF3-C052-1E4DC5F0CF3C}"/>
              </a:ext>
            </a:extLst>
          </p:cNvPr>
          <p:cNvSpPr txBox="1"/>
          <p:nvPr/>
        </p:nvSpPr>
        <p:spPr>
          <a:xfrm>
            <a:off x="241496" y="3718525"/>
            <a:ext cx="11642861" cy="923330"/>
          </a:xfrm>
          <a:prstGeom prst="rect">
            <a:avLst/>
          </a:prstGeom>
          <a:noFill/>
        </p:spPr>
        <p:txBody>
          <a:bodyPr wrap="square" rtlCol="0">
            <a:spAutoFit/>
          </a:bodyPr>
          <a:lstStyle/>
          <a:p>
            <a:pPr algn="l"/>
            <a:endParaRPr lang="en-NZ" dirty="0"/>
          </a:p>
          <a:p>
            <a:pPr algn="l"/>
            <a:endParaRPr lang="en-NZ" dirty="0"/>
          </a:p>
          <a:p>
            <a:endParaRPr lang="en-NZ" dirty="0"/>
          </a:p>
        </p:txBody>
      </p:sp>
      <p:pic>
        <p:nvPicPr>
          <p:cNvPr id="3" name="Picture 2" descr="A screenshot of a phone&#10;&#10;AI-generated content may be incorrect.">
            <a:extLst>
              <a:ext uri="{FF2B5EF4-FFF2-40B4-BE49-F238E27FC236}">
                <a16:creationId xmlns:a16="http://schemas.microsoft.com/office/drawing/2014/main" id="{98FB4473-F246-CB38-2A77-71682B7249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779" y="4094249"/>
            <a:ext cx="4845299" cy="1638384"/>
          </a:xfrm>
          <a:prstGeom prst="rect">
            <a:avLst/>
          </a:prstGeom>
        </p:spPr>
      </p:pic>
      <p:pic>
        <p:nvPicPr>
          <p:cNvPr id="9" name="Picture 8" descr="A building with signs and a car parked in front of it&#10;&#10;AI-generated content may be incorrect.">
            <a:extLst>
              <a:ext uri="{FF2B5EF4-FFF2-40B4-BE49-F238E27FC236}">
                <a16:creationId xmlns:a16="http://schemas.microsoft.com/office/drawing/2014/main" id="{2DCDE797-4E96-F7BB-990A-774C77D0C9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8923" y="4094249"/>
            <a:ext cx="4245820" cy="251747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2" name="Picture 1">
            <a:extLst>
              <a:ext uri="{FF2B5EF4-FFF2-40B4-BE49-F238E27FC236}">
                <a16:creationId xmlns:a16="http://schemas.microsoft.com/office/drawing/2014/main" id="{C72DCA90-AEC4-618F-2E53-F85DF20C76E0}"/>
              </a:ext>
            </a:extLst>
          </p:cNvPr>
          <p:cNvPicPr>
            <a:picLocks noChangeAspect="1"/>
          </p:cNvPicPr>
          <p:nvPr/>
        </p:nvPicPr>
        <p:blipFill>
          <a:blip r:embed="rId5"/>
          <a:stretch>
            <a:fillRect/>
          </a:stretch>
        </p:blipFill>
        <p:spPr>
          <a:xfrm>
            <a:off x="241496" y="154909"/>
            <a:ext cx="11553002" cy="1378191"/>
          </a:xfrm>
          <a:prstGeom prst="rect">
            <a:avLst/>
          </a:prstGeom>
        </p:spPr>
      </p:pic>
    </p:spTree>
    <p:extLst>
      <p:ext uri="{BB962C8B-B14F-4D97-AF65-F5344CB8AC3E}">
        <p14:creationId xmlns:p14="http://schemas.microsoft.com/office/powerpoint/2010/main" val="2516876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5730</TotalTime>
  <Words>3136</Words>
  <Application>Microsoft Office PowerPoint</Application>
  <PresentationFormat>Widescreen</PresentationFormat>
  <Paragraphs>286</Paragraphs>
  <Slides>30</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7" baseType="lpstr">
      <vt:lpstr>Aptos</vt:lpstr>
      <vt:lpstr>Aptos Display</vt:lpstr>
      <vt:lpstr>Arial</vt:lpstr>
      <vt:lpstr>Montserrat</vt:lpstr>
      <vt:lpstr>Symbol</vt:lpstr>
      <vt:lpstr>Office Theme</vt:lpstr>
      <vt:lpstr>PDF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Arc Counselling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Debbie Davies</dc:creator>
  <cp:lastModifiedBy>Debbie Davies</cp:lastModifiedBy>
  <cp:revision>165</cp:revision>
  <dcterms:created xsi:type="dcterms:W3CDTF">2026-07-22T02:36:52Z</dcterms:created>
  <dcterms:modified xsi:type="dcterms:W3CDTF">2026-09-03T02:46:39Z</dcterms:modified>
</cp:coreProperties>
</file>